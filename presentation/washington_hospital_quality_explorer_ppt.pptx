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252"/>
    <a:srgbClr val="B95B76"/>
    <a:srgbClr val="606060"/>
    <a:srgbClr val="E28AA5"/>
    <a:srgbClr val="E2F2E6"/>
    <a:srgbClr val="D795AB"/>
    <a:srgbClr val="DD83B0"/>
    <a:srgbClr val="ED73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42" autoAdjust="0"/>
  </p:normalViewPr>
  <p:slideViewPr>
    <p:cSldViewPr snapToGrid="0">
      <p:cViewPr varScale="1">
        <p:scale>
          <a:sx n="81" d="100"/>
          <a:sy n="81" d="100"/>
        </p:scale>
        <p:origin x="96"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C002D5-9CCB-4D17-94D6-D26443F469C4}"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F3A09E-E80F-43F4-BEE9-E910A0A70666}" type="slidenum">
              <a:rPr lang="en-US" smtClean="0"/>
              <a:t>‹#›</a:t>
            </a:fld>
            <a:endParaRPr lang="en-US"/>
          </a:p>
        </p:txBody>
      </p:sp>
    </p:spTree>
    <p:extLst>
      <p:ext uri="{BB962C8B-B14F-4D97-AF65-F5344CB8AC3E}">
        <p14:creationId xmlns:p14="http://schemas.microsoft.com/office/powerpoint/2010/main" val="4256997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the dashboard, I wanted to clearly define the business problem I was trying to solve.</a:t>
            </a:r>
          </a:p>
          <a:p>
            <a:r>
              <a:rPr lang="en-US" dirty="0"/>
              <a:t>CMS publishes a large amount of hospital quality data, but it's spread across many measures and can be difficult to interpret at a statewide level. Healthcare leaders need a way to quickly compare hospital performance, identify patterns, and support quality improvement efforts.</a:t>
            </a:r>
          </a:p>
          <a:p>
            <a:r>
              <a:rPr lang="en-US" dirty="0"/>
              <a:t>My objective was to transform this public dataset into an executive Excel dashboard that summarizes statewide hospital quality performance and makes the information easier to understand. Rather than replacing the detailed CMS data, the dashboard provides a high-level view that supports benchmarking and data-informed decision making.</a:t>
            </a:r>
          </a:p>
          <a:p>
            <a:endParaRPr lang="en-US" dirty="0"/>
          </a:p>
          <a:p>
            <a:r>
              <a:rPr lang="en-US" dirty="0"/>
              <a:t>One thing I was careful about throughout the project was making sure my conclusions matched what the data could actually support. For example, many Critical Access and specialty hospitals aren't assigned CMS Overall Star Ratings, so I avoided making direct quality comparisons where the dataset didn't support them.</a:t>
            </a:r>
          </a:p>
        </p:txBody>
      </p:sp>
      <p:sp>
        <p:nvSpPr>
          <p:cNvPr id="4" name="Slide Number Placeholder 3"/>
          <p:cNvSpPr>
            <a:spLocks noGrp="1"/>
          </p:cNvSpPr>
          <p:nvPr>
            <p:ph type="sldNum" sz="quarter" idx="5"/>
          </p:nvPr>
        </p:nvSpPr>
        <p:spPr/>
        <p:txBody>
          <a:bodyPr/>
          <a:lstStyle/>
          <a:p>
            <a:fld id="{F1F3A09E-E80F-43F4-BEE9-E910A0A70666}" type="slidenum">
              <a:rPr lang="en-US" smtClean="0"/>
              <a:t>2</a:t>
            </a:fld>
            <a:endParaRPr lang="en-US"/>
          </a:p>
        </p:txBody>
      </p:sp>
    </p:spTree>
    <p:extLst>
      <p:ext uri="{BB962C8B-B14F-4D97-AF65-F5344CB8AC3E}">
        <p14:creationId xmlns:p14="http://schemas.microsoft.com/office/powerpoint/2010/main" val="4255698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began with a clear business question: how hospital quality performance varies across Washington and how the data can support healthcare quality improvement.</a:t>
            </a:r>
          </a:p>
          <a:p>
            <a:r>
              <a:rPr lang="en-US" dirty="0"/>
              <a:t>To answer that question, I first filtered the CMS Hospital Compare dataset to Washington hospitals. I then used PivotTables to explore the data, calculate summary metrics, and identify meaningful patterns. Finally, I designed executive dashboards to present the findings in a concise and accessible format.</a:t>
            </a:r>
          </a:p>
          <a:p>
            <a:endParaRPr lang="en-US" dirty="0"/>
          </a:p>
        </p:txBody>
      </p:sp>
      <p:sp>
        <p:nvSpPr>
          <p:cNvPr id="4" name="Slide Number Placeholder 3"/>
          <p:cNvSpPr>
            <a:spLocks noGrp="1"/>
          </p:cNvSpPr>
          <p:nvPr>
            <p:ph type="sldNum" sz="quarter" idx="5"/>
          </p:nvPr>
        </p:nvSpPr>
        <p:spPr/>
        <p:txBody>
          <a:bodyPr/>
          <a:lstStyle/>
          <a:p>
            <a:fld id="{F1F3A09E-E80F-43F4-BEE9-E910A0A70666}" type="slidenum">
              <a:rPr lang="en-US" smtClean="0"/>
              <a:t>3</a:t>
            </a:fld>
            <a:endParaRPr lang="en-US"/>
          </a:p>
        </p:txBody>
      </p:sp>
    </p:spTree>
    <p:extLst>
      <p:ext uri="{BB962C8B-B14F-4D97-AF65-F5344CB8AC3E}">
        <p14:creationId xmlns:p14="http://schemas.microsoft.com/office/powerpoint/2010/main" val="2520501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defining the business question, I followed a structured analytical workflow to transform the raw CMS dataset into executive dashboards.</a:t>
            </a:r>
          </a:p>
          <a:p>
            <a:r>
              <a:rPr lang="en-US" dirty="0"/>
              <a:t>I began by filtering the CMS Hospital Compare dataset to include only Washington hospitals and validating the records to ensure the analysis reflected the intended geographic scope.</a:t>
            </a:r>
          </a:p>
          <a:p>
            <a:r>
              <a:rPr lang="en-US" dirty="0"/>
              <a:t>Next, I used Excel PivotTables to explore patterns in hospital type, CMS Overall Star Ratings, and statewide quality performance. This exploratory analysis helped identify the most meaningful metrics to summarize in the dashboards.</a:t>
            </a:r>
          </a:p>
          <a:p>
            <a:r>
              <a:rPr lang="en-US" dirty="0"/>
              <a:t>I then calculated key performance indicators and summary metrics that would support the dashboard visualizations.</a:t>
            </a:r>
          </a:p>
          <a:p>
            <a:r>
              <a:rPr lang="en-US" dirty="0"/>
              <a:t>Finally, I designed two executive dashboards that present the findings in a concise, accessible format, allowing users to quickly understand statewide trends and supporting data-driven quality improvement efforts.</a:t>
            </a:r>
          </a:p>
          <a:p>
            <a:endParaRPr lang="en-US" dirty="0"/>
          </a:p>
          <a:p>
            <a:r>
              <a:rPr lang="en-US" dirty="0"/>
              <a:t>I intentionally used Excel because it's still one of the most common tools used for healthcare reporting. I wanted to demonstrate that I could take a public healthcare dataset, perform structured analysis with PivotTables, and create executive-ready dashboards using tools that many healthcare organizations rely on every day.</a:t>
            </a:r>
          </a:p>
          <a:p>
            <a:endParaRPr lang="en-US" dirty="0"/>
          </a:p>
          <a:p>
            <a:r>
              <a:rPr lang="en-US" dirty="0"/>
              <a:t>One challenge was making sure the business question matched what the data could actually support. For example, many Critical Access and specialty hospitals aren't assigned CMS Overall Star Ratings under CMS methodology. I adjusted both the business question and the conclusions to avoid making unsupported comparisons and to ensure the findings accurately reflected the dataset.</a:t>
            </a:r>
          </a:p>
        </p:txBody>
      </p:sp>
      <p:sp>
        <p:nvSpPr>
          <p:cNvPr id="4" name="Slide Number Placeholder 3"/>
          <p:cNvSpPr>
            <a:spLocks noGrp="1"/>
          </p:cNvSpPr>
          <p:nvPr>
            <p:ph type="sldNum" sz="quarter" idx="5"/>
          </p:nvPr>
        </p:nvSpPr>
        <p:spPr/>
        <p:txBody>
          <a:bodyPr/>
          <a:lstStyle/>
          <a:p>
            <a:fld id="{F1F3A09E-E80F-43F4-BEE9-E910A0A70666}" type="slidenum">
              <a:rPr lang="en-US" smtClean="0"/>
              <a:t>4</a:t>
            </a:fld>
            <a:endParaRPr lang="en-US"/>
          </a:p>
        </p:txBody>
      </p:sp>
    </p:spTree>
    <p:extLst>
      <p:ext uri="{BB962C8B-B14F-4D97-AF65-F5344CB8AC3E}">
        <p14:creationId xmlns:p14="http://schemas.microsoft.com/office/powerpoint/2010/main" val="2602419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executive dashboard provides a high-level summary of hospital quality performance across Washington.</a:t>
            </a:r>
          </a:p>
          <a:p>
            <a:r>
              <a:rPr lang="en-US" dirty="0"/>
              <a:t>The KPI cards highlight the scope of the analysis, including the total hospitals analyzed, the number receiving CMS Overall Star Ratings, the statewide average rating, and the number of hospitals achieving the highest 5-Star Rating.</a:t>
            </a:r>
          </a:p>
          <a:p>
            <a:r>
              <a:rPr lang="en-US" dirty="0"/>
              <a:t>The Overall Star Rating Distribution provides a quick view of how hospitals are distributed across CMS ratings, while also showing that many hospitals remain unrated because they are not eligible under CMS methodology.</a:t>
            </a:r>
          </a:p>
          <a:p>
            <a:r>
              <a:rPr lang="en-US" dirty="0"/>
              <a:t>Finally, the recognition panel highlights the six hospitals that achieved the highest Overall Star Rating, and the project overview summarizes the data source, geographic scope, and objective of the analysis.</a:t>
            </a:r>
          </a:p>
          <a:p>
            <a:endParaRPr lang="en-US" dirty="0"/>
          </a:p>
        </p:txBody>
      </p:sp>
      <p:sp>
        <p:nvSpPr>
          <p:cNvPr id="4" name="Slide Number Placeholder 3"/>
          <p:cNvSpPr>
            <a:spLocks noGrp="1"/>
          </p:cNvSpPr>
          <p:nvPr>
            <p:ph type="sldNum" sz="quarter" idx="5"/>
          </p:nvPr>
        </p:nvSpPr>
        <p:spPr/>
        <p:txBody>
          <a:bodyPr/>
          <a:lstStyle/>
          <a:p>
            <a:fld id="{F1F3A09E-E80F-43F4-BEE9-E910A0A70666}" type="slidenum">
              <a:rPr lang="en-US" smtClean="0"/>
              <a:t>5</a:t>
            </a:fld>
            <a:endParaRPr lang="en-US"/>
          </a:p>
        </p:txBody>
      </p:sp>
    </p:spTree>
    <p:extLst>
      <p:ext uri="{BB962C8B-B14F-4D97-AF65-F5344CB8AC3E}">
        <p14:creationId xmlns:p14="http://schemas.microsoft.com/office/powerpoint/2010/main" val="3733672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expands on the executive overview by providing additional context behind the statewide results.</a:t>
            </a:r>
          </a:p>
          <a:p>
            <a:r>
              <a:rPr lang="en-US" dirty="0"/>
              <a:t>The hospital type distribution shows that Acute Care Hospitals and Critical Access Hospitals account for the majority of facilities included in the analysis.</a:t>
            </a:r>
          </a:p>
          <a:p>
            <a:r>
              <a:rPr lang="en-US" dirty="0"/>
              <a:t>The Data Summary provides quick reference metrics describing the dataset, including the number of hospitals analyzed, the number receiving CMS Overall Star Ratings, and the distribution of hospital types.</a:t>
            </a:r>
          </a:p>
          <a:p>
            <a:r>
              <a:rPr lang="en-US" dirty="0"/>
              <a:t>The Key Findings summarize the most important observations identified during the analysis, while the Business Conclusions explain how those findings can support statewide benchmarking and healthcare quality improvement efforts.</a:t>
            </a:r>
          </a:p>
          <a:p>
            <a:r>
              <a:rPr lang="en-US" dirty="0"/>
              <a:t>Together, these elements move beyond simply presenting data and help translate the analysis into actionable business insights.</a:t>
            </a:r>
          </a:p>
          <a:p>
            <a:endParaRPr lang="en-US" dirty="0"/>
          </a:p>
        </p:txBody>
      </p:sp>
      <p:sp>
        <p:nvSpPr>
          <p:cNvPr id="4" name="Slide Number Placeholder 3"/>
          <p:cNvSpPr>
            <a:spLocks noGrp="1"/>
          </p:cNvSpPr>
          <p:nvPr>
            <p:ph type="sldNum" sz="quarter" idx="5"/>
          </p:nvPr>
        </p:nvSpPr>
        <p:spPr/>
        <p:txBody>
          <a:bodyPr/>
          <a:lstStyle/>
          <a:p>
            <a:fld id="{F1F3A09E-E80F-43F4-BEE9-E910A0A70666}" type="slidenum">
              <a:rPr lang="en-US" smtClean="0"/>
              <a:t>6</a:t>
            </a:fld>
            <a:endParaRPr lang="en-US"/>
          </a:p>
        </p:txBody>
      </p:sp>
    </p:spTree>
    <p:extLst>
      <p:ext uri="{BB962C8B-B14F-4D97-AF65-F5344CB8AC3E}">
        <p14:creationId xmlns:p14="http://schemas.microsoft.com/office/powerpoint/2010/main" val="634953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identified several important statewide trends. Acute Care Hospitals represented nearly half of the facilities included in the dataset, while Critical Access Hospitals accounted for a significant portion but were frequently not assigned CMS Overall Star Ratings under CMS methodology.</a:t>
            </a:r>
          </a:p>
          <a:p>
            <a:r>
              <a:rPr lang="en-US" dirty="0"/>
              <a:t>One of the key takeaways is that hospital type should always be considered when interpreting statewide quality data. Comparing hospitals without considering CMS eligibility could lead to misleading conclusions.</a:t>
            </a:r>
          </a:p>
          <a:p>
            <a:r>
              <a:rPr lang="en-US" dirty="0"/>
              <a:t>Beyond the specific findings, this project demonstrates how executive dashboards can transform complex public healthcare data into information that is easier to interpret and supports benchmarking and quality improvement discussions.</a:t>
            </a:r>
          </a:p>
          <a:p>
            <a:endParaRPr lang="en-US" dirty="0"/>
          </a:p>
        </p:txBody>
      </p:sp>
      <p:sp>
        <p:nvSpPr>
          <p:cNvPr id="4" name="Slide Number Placeholder 3"/>
          <p:cNvSpPr>
            <a:spLocks noGrp="1"/>
          </p:cNvSpPr>
          <p:nvPr>
            <p:ph type="sldNum" sz="quarter" idx="5"/>
          </p:nvPr>
        </p:nvSpPr>
        <p:spPr/>
        <p:txBody>
          <a:bodyPr/>
          <a:lstStyle/>
          <a:p>
            <a:fld id="{F1F3A09E-E80F-43F4-BEE9-E910A0A70666}" type="slidenum">
              <a:rPr lang="en-US" smtClean="0"/>
              <a:t>7</a:t>
            </a:fld>
            <a:endParaRPr lang="en-US"/>
          </a:p>
        </p:txBody>
      </p:sp>
    </p:spTree>
    <p:extLst>
      <p:ext uri="{BB962C8B-B14F-4D97-AF65-F5344CB8AC3E}">
        <p14:creationId xmlns:p14="http://schemas.microsoft.com/office/powerpoint/2010/main" val="4276264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brought together many of the skills I've developed throughout my analytics portfolio, including dashboard design, KPI development, data visualization, and healthcare data analysis.</a:t>
            </a:r>
          </a:p>
          <a:p>
            <a:r>
              <a:rPr lang="en-US" dirty="0"/>
              <a:t>Beyond the technical work, one of my biggest takeaways was the importance of aligning business questions with what the data can legitimately support. Throughout the project, I refined both the analysis and the conclusions to ensure they accurately reflected CMS methodology and avoided unsupported comparisons.</a:t>
            </a:r>
          </a:p>
          <a:p>
            <a:r>
              <a:rPr lang="en-US" dirty="0"/>
              <a:t>Overall, this project reinforced that effective analytics isn't just about creating visualizations—it's about transforming complex data into information that decision-makers can understand and use with confidence.</a:t>
            </a:r>
          </a:p>
          <a:p>
            <a:endParaRPr lang="en-US" dirty="0"/>
          </a:p>
        </p:txBody>
      </p:sp>
      <p:sp>
        <p:nvSpPr>
          <p:cNvPr id="4" name="Slide Number Placeholder 3"/>
          <p:cNvSpPr>
            <a:spLocks noGrp="1"/>
          </p:cNvSpPr>
          <p:nvPr>
            <p:ph type="sldNum" sz="quarter" idx="5"/>
          </p:nvPr>
        </p:nvSpPr>
        <p:spPr/>
        <p:txBody>
          <a:bodyPr/>
          <a:lstStyle/>
          <a:p>
            <a:fld id="{F1F3A09E-E80F-43F4-BEE9-E910A0A70666}" type="slidenum">
              <a:rPr lang="en-US" smtClean="0"/>
              <a:t>8</a:t>
            </a:fld>
            <a:endParaRPr lang="en-US"/>
          </a:p>
        </p:txBody>
      </p:sp>
    </p:spTree>
    <p:extLst>
      <p:ext uri="{BB962C8B-B14F-4D97-AF65-F5344CB8AC3E}">
        <p14:creationId xmlns:p14="http://schemas.microsoft.com/office/powerpoint/2010/main" val="3719081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EFF6F-A0F3-1704-C365-5922EDAE42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CE8D51-A265-0ECD-D334-6E4FC29ED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B7F5C5-ACCF-3930-2379-38EF70E09E66}"/>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5" name="Footer Placeholder 4">
            <a:extLst>
              <a:ext uri="{FF2B5EF4-FFF2-40B4-BE49-F238E27FC236}">
                <a16:creationId xmlns:a16="http://schemas.microsoft.com/office/drawing/2014/main" id="{0749D4C1-DA83-4E53-071B-33A01BD1B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67B2F4-5B3E-2360-EBBF-B0350E8DB4B5}"/>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1558593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B0DE-909F-C6FC-FFE5-57F2191B1C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66DD7C-F9EA-DFF1-89A6-EA0413BEA1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96E3F-B7EE-E2DE-B6A7-364C64106E05}"/>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5" name="Footer Placeholder 4">
            <a:extLst>
              <a:ext uri="{FF2B5EF4-FFF2-40B4-BE49-F238E27FC236}">
                <a16:creationId xmlns:a16="http://schemas.microsoft.com/office/drawing/2014/main" id="{B9BD3A7E-6B2B-87F2-6716-3B39997DD6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2A13E-3DD6-2646-315C-4F8DF9973F02}"/>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1292971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873E3-2BA5-8362-2CD9-D8FDD8AB57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CAD822-C2BE-19AC-199A-355B204485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0B2534-F762-27D6-E3E6-7CAD81764E4E}"/>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5" name="Footer Placeholder 4">
            <a:extLst>
              <a:ext uri="{FF2B5EF4-FFF2-40B4-BE49-F238E27FC236}">
                <a16:creationId xmlns:a16="http://schemas.microsoft.com/office/drawing/2014/main" id="{8E23E265-2D2B-1255-1D37-4F6D898F15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BC71A-6795-BECE-5CDF-F2E88C754036}"/>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3058015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49F84-44FB-76A6-3640-78215E1C37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185BD-DAEE-66EB-8848-573A3C463A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5C898-7FEE-150E-ACD2-6CA2EAA77A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D8C0CC-0391-4C8C-385C-3F1C97172533}"/>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6" name="Footer Placeholder 5">
            <a:extLst>
              <a:ext uri="{FF2B5EF4-FFF2-40B4-BE49-F238E27FC236}">
                <a16:creationId xmlns:a16="http://schemas.microsoft.com/office/drawing/2014/main" id="{072C2737-A36F-E9AC-753F-BF25BCBF66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27CF5-4D3E-45BF-88C4-1A04E1773EE0}"/>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3900398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0DAAC-8299-830F-957A-89BE14ED5F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0BCE2E-1785-E3B8-8395-5D679537F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B53E82-D164-732C-19E9-1FA263344C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2088FD-94C3-801F-C613-A5E1C848D1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16A9D6-5E6D-1057-6629-F4EE80CB76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D23CD8-3E77-CF50-8699-1E5BC1B1D5D2}"/>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8" name="Footer Placeholder 7">
            <a:extLst>
              <a:ext uri="{FF2B5EF4-FFF2-40B4-BE49-F238E27FC236}">
                <a16:creationId xmlns:a16="http://schemas.microsoft.com/office/drawing/2014/main" id="{020D2387-A874-7C8C-D141-3784F76EB8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F27CD7-6E07-9BDB-1407-532A17A3ACDB}"/>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4266050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443F2-3ADB-F473-D8DB-2A02533E84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3E08F5-1CF3-5ED6-E6FD-09E65C540A12}"/>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4" name="Footer Placeholder 3">
            <a:extLst>
              <a:ext uri="{FF2B5EF4-FFF2-40B4-BE49-F238E27FC236}">
                <a16:creationId xmlns:a16="http://schemas.microsoft.com/office/drawing/2014/main" id="{6B2F185B-AA45-4AE4-D38C-0C57A32FDA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5C6B-7A11-A007-8331-62F1FCEE340F}"/>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2456254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EC3AA8-CC44-1420-F838-3EAB451B2AF8}"/>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3" name="Footer Placeholder 2">
            <a:extLst>
              <a:ext uri="{FF2B5EF4-FFF2-40B4-BE49-F238E27FC236}">
                <a16:creationId xmlns:a16="http://schemas.microsoft.com/office/drawing/2014/main" id="{CC64111B-CF41-FCF5-9212-F547942ECA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A8DFE5-CC0A-AED5-EF17-984D66B07C18}"/>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1837336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CE1B2-24A0-4560-F21D-22A3354A77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97338C-6741-D907-09D4-6FEDAD9F33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25BE52-A840-ECB9-9C73-A17086C37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3FBE3-EEB2-E0AA-C6CA-3069E6BEE893}"/>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6" name="Footer Placeholder 5">
            <a:extLst>
              <a:ext uri="{FF2B5EF4-FFF2-40B4-BE49-F238E27FC236}">
                <a16:creationId xmlns:a16="http://schemas.microsoft.com/office/drawing/2014/main" id="{5A1F4C4F-2C99-F2A9-A096-28B3517D1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47C926-4952-CD88-3C3F-50DF3F4C3C21}"/>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277938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368E-E9E0-27A8-A009-3E2D92FA82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726FD9-3671-5AC5-EC0C-86656E7E67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657DED-CFA2-A9E4-06F2-BAB46101C1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640982-2E61-A99F-65B4-A3F6BD546355}"/>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6" name="Footer Placeholder 5">
            <a:extLst>
              <a:ext uri="{FF2B5EF4-FFF2-40B4-BE49-F238E27FC236}">
                <a16:creationId xmlns:a16="http://schemas.microsoft.com/office/drawing/2014/main" id="{504FFF7D-3F1D-D762-0636-7D8A9AC1D2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8C1AA-3320-21ED-1B32-9D93AA48FDD7}"/>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195547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3BCD9-F56C-E6BD-DD63-758F9C018E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8B9A31-CBAD-6964-858F-84D78A055F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93476-2E61-C472-FA13-636B06126887}"/>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5" name="Footer Placeholder 4">
            <a:extLst>
              <a:ext uri="{FF2B5EF4-FFF2-40B4-BE49-F238E27FC236}">
                <a16:creationId xmlns:a16="http://schemas.microsoft.com/office/drawing/2014/main" id="{CB2D8AD5-C4E3-5B6C-791A-05D9EDDD3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5E38B-B63D-489D-1733-94102279D18C}"/>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1781610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BBB2B8-88DA-0648-0CDA-0490AB4105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128B68-A888-0A21-4689-9E56289E70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4533D2-13D9-3E2B-F6CB-842B17D417D4}"/>
              </a:ext>
            </a:extLst>
          </p:cNvPr>
          <p:cNvSpPr>
            <a:spLocks noGrp="1"/>
          </p:cNvSpPr>
          <p:nvPr>
            <p:ph type="dt" sz="half" idx="10"/>
          </p:nvPr>
        </p:nvSpPr>
        <p:spPr/>
        <p:txBody>
          <a:bodyPr/>
          <a:lstStyle/>
          <a:p>
            <a:fld id="{5EACF568-D674-4E2B-A1B0-915AD0FCB69A}" type="datetimeFigureOut">
              <a:rPr lang="en-US" smtClean="0"/>
              <a:t>7/26/2026</a:t>
            </a:fld>
            <a:endParaRPr lang="en-US"/>
          </a:p>
        </p:txBody>
      </p:sp>
      <p:sp>
        <p:nvSpPr>
          <p:cNvPr id="5" name="Footer Placeholder 4">
            <a:extLst>
              <a:ext uri="{FF2B5EF4-FFF2-40B4-BE49-F238E27FC236}">
                <a16:creationId xmlns:a16="http://schemas.microsoft.com/office/drawing/2014/main" id="{A06D4C40-7EC5-CB0B-DFC3-B33AF6B97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3E6D1-388E-9124-AE02-B3D1841F855A}"/>
              </a:ext>
            </a:extLst>
          </p:cNvPr>
          <p:cNvSpPr>
            <a:spLocks noGrp="1"/>
          </p:cNvSpPr>
          <p:nvPr>
            <p:ph type="sldNum" sz="quarter" idx="12"/>
          </p:nvPr>
        </p:nvSpPr>
        <p:spPr/>
        <p:txBody>
          <a:bodyPr/>
          <a:lstStyle/>
          <a:p>
            <a:fld id="{9B28D31E-A3DD-4323-A7ED-FC0868C5EC27}" type="slidenum">
              <a:rPr lang="en-US" smtClean="0"/>
              <a:t>‹#›</a:t>
            </a:fld>
            <a:endParaRPr lang="en-US"/>
          </a:p>
        </p:txBody>
      </p:sp>
    </p:spTree>
    <p:extLst>
      <p:ext uri="{BB962C8B-B14F-4D97-AF65-F5344CB8AC3E}">
        <p14:creationId xmlns:p14="http://schemas.microsoft.com/office/powerpoint/2010/main" val="2211033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2A476-04D0-732C-04FF-9774E1753F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ED3476-92DA-FDAD-AB5A-687D2F242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88BF5-B46B-D38B-1CB0-5F68878F2C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ACF568-D674-4E2B-A1B0-915AD0FCB69A}" type="datetimeFigureOut">
              <a:rPr lang="en-US" smtClean="0"/>
              <a:t>7/26/2026</a:t>
            </a:fld>
            <a:endParaRPr lang="en-US"/>
          </a:p>
        </p:txBody>
      </p:sp>
      <p:sp>
        <p:nvSpPr>
          <p:cNvPr id="5" name="Footer Placeholder 4">
            <a:extLst>
              <a:ext uri="{FF2B5EF4-FFF2-40B4-BE49-F238E27FC236}">
                <a16:creationId xmlns:a16="http://schemas.microsoft.com/office/drawing/2014/main" id="{DE577DAC-3BCA-29FE-137F-A2757FF954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F3D65E-7433-D3B6-6212-4CCE373C4F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28D31E-A3DD-4323-A7ED-FC0868C5EC27}" type="slidenum">
              <a:rPr lang="en-US" smtClean="0"/>
              <a:t>‹#›</a:t>
            </a:fld>
            <a:endParaRPr lang="en-US"/>
          </a:p>
        </p:txBody>
      </p:sp>
    </p:spTree>
    <p:extLst>
      <p:ext uri="{BB962C8B-B14F-4D97-AF65-F5344CB8AC3E}">
        <p14:creationId xmlns:p14="http://schemas.microsoft.com/office/powerpoint/2010/main" val="2084080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1B8B1-1C89-69C7-E651-DCF11391057E}"/>
              </a:ext>
            </a:extLst>
          </p:cNvPr>
          <p:cNvSpPr>
            <a:spLocks noGrp="1"/>
          </p:cNvSpPr>
          <p:nvPr>
            <p:ph type="ctrTitle"/>
          </p:nvPr>
        </p:nvSpPr>
        <p:spPr>
          <a:xfrm>
            <a:off x="1524000" y="1042851"/>
            <a:ext cx="9144000" cy="1655762"/>
          </a:xfrm>
        </p:spPr>
        <p:txBody>
          <a:bodyPr>
            <a:normAutofit/>
          </a:bodyPr>
          <a:lstStyle/>
          <a:p>
            <a:r>
              <a:rPr lang="en-US" sz="4200" b="1" dirty="0">
                <a:solidFill>
                  <a:schemeClr val="accent6">
                    <a:lumMod val="50000"/>
                  </a:schemeClr>
                </a:solidFill>
              </a:rPr>
              <a:t>Washington Hospital Quality Explorer</a:t>
            </a:r>
          </a:p>
        </p:txBody>
      </p:sp>
      <p:sp>
        <p:nvSpPr>
          <p:cNvPr id="3" name="Subtitle 2">
            <a:extLst>
              <a:ext uri="{FF2B5EF4-FFF2-40B4-BE49-F238E27FC236}">
                <a16:creationId xmlns:a16="http://schemas.microsoft.com/office/drawing/2014/main" id="{4006590B-0A4D-A0D2-0560-10F8E87035B3}"/>
              </a:ext>
            </a:extLst>
          </p:cNvPr>
          <p:cNvSpPr>
            <a:spLocks noGrp="1"/>
          </p:cNvSpPr>
          <p:nvPr>
            <p:ph type="subTitle" idx="1"/>
          </p:nvPr>
        </p:nvSpPr>
        <p:spPr>
          <a:xfrm>
            <a:off x="1524000" y="2778125"/>
            <a:ext cx="9144000" cy="2479675"/>
          </a:xfrm>
        </p:spPr>
        <p:txBody>
          <a:bodyPr/>
          <a:lstStyle/>
          <a:p>
            <a:r>
              <a:rPr lang="en-US" i="1" dirty="0">
                <a:solidFill>
                  <a:schemeClr val="bg2">
                    <a:lumMod val="25000"/>
                  </a:schemeClr>
                </a:solidFill>
              </a:rPr>
              <a:t>Analyzing CMS Hospital Quality Performance Across Washington</a:t>
            </a:r>
          </a:p>
        </p:txBody>
      </p:sp>
      <p:sp>
        <p:nvSpPr>
          <p:cNvPr id="4" name="TextBox 3">
            <a:extLst>
              <a:ext uri="{FF2B5EF4-FFF2-40B4-BE49-F238E27FC236}">
                <a16:creationId xmlns:a16="http://schemas.microsoft.com/office/drawing/2014/main" id="{039C4E7A-2CC2-4C43-BB30-E4E2AC60800E}"/>
              </a:ext>
            </a:extLst>
          </p:cNvPr>
          <p:cNvSpPr txBox="1"/>
          <p:nvPr/>
        </p:nvSpPr>
        <p:spPr>
          <a:xfrm>
            <a:off x="1859757" y="3957641"/>
            <a:ext cx="8472487" cy="2031325"/>
          </a:xfrm>
          <a:prstGeom prst="rect">
            <a:avLst/>
          </a:prstGeom>
          <a:noFill/>
        </p:spPr>
        <p:txBody>
          <a:bodyPr wrap="square" rtlCol="0">
            <a:spAutoFit/>
          </a:bodyPr>
          <a:lstStyle/>
          <a:p>
            <a:pPr algn="ctr"/>
            <a:r>
              <a:rPr lang="en-US" dirty="0">
                <a:solidFill>
                  <a:schemeClr val="bg2">
                    <a:lumMod val="50000"/>
                  </a:schemeClr>
                </a:solidFill>
              </a:rPr>
              <a:t>Jen Fordham, RHIA</a:t>
            </a:r>
          </a:p>
          <a:p>
            <a:pPr algn="ctr"/>
            <a:endParaRPr lang="en-US" dirty="0">
              <a:solidFill>
                <a:schemeClr val="bg2">
                  <a:lumMod val="50000"/>
                </a:schemeClr>
              </a:solidFill>
            </a:endParaRPr>
          </a:p>
          <a:p>
            <a:pPr algn="ctr"/>
            <a:r>
              <a:rPr lang="en-US" dirty="0">
                <a:solidFill>
                  <a:schemeClr val="bg2">
                    <a:lumMod val="50000"/>
                  </a:schemeClr>
                </a:solidFill>
              </a:rPr>
              <a:t>July 2026</a:t>
            </a:r>
          </a:p>
          <a:p>
            <a:pPr algn="ctr"/>
            <a:endParaRPr lang="en-US" dirty="0">
              <a:solidFill>
                <a:schemeClr val="bg2">
                  <a:lumMod val="50000"/>
                </a:schemeClr>
              </a:solidFill>
            </a:endParaRPr>
          </a:p>
          <a:p>
            <a:pPr algn="ctr"/>
            <a:r>
              <a:rPr lang="en-US" dirty="0">
                <a:solidFill>
                  <a:schemeClr val="bg2">
                    <a:lumMod val="50000"/>
                  </a:schemeClr>
                </a:solidFill>
              </a:rPr>
              <a:t>Microsoft Excel   •   PivotTables   •   Dashboard Development</a:t>
            </a:r>
          </a:p>
          <a:p>
            <a:pPr algn="ctr"/>
            <a:endParaRPr lang="en-US" dirty="0">
              <a:solidFill>
                <a:schemeClr val="bg2">
                  <a:lumMod val="50000"/>
                </a:schemeClr>
              </a:solidFill>
            </a:endParaRPr>
          </a:p>
          <a:p>
            <a:pPr algn="ctr"/>
            <a:r>
              <a:rPr lang="en-US" dirty="0">
                <a:solidFill>
                  <a:schemeClr val="bg2">
                    <a:lumMod val="50000"/>
                  </a:schemeClr>
                </a:solidFill>
              </a:rPr>
              <a:t>Healthcare Analytics Portfolio Project</a:t>
            </a:r>
          </a:p>
        </p:txBody>
      </p:sp>
      <p:sp>
        <p:nvSpPr>
          <p:cNvPr id="8" name="Rectangle 7">
            <a:extLst>
              <a:ext uri="{FF2B5EF4-FFF2-40B4-BE49-F238E27FC236}">
                <a16:creationId xmlns:a16="http://schemas.microsoft.com/office/drawing/2014/main" id="{66EE3167-C480-D677-67FA-6AD96AB5103A}"/>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75F7E935-07A7-2710-410B-49ED8D89C503}"/>
              </a:ext>
            </a:extLst>
          </p:cNvPr>
          <p:cNvCxnSpPr>
            <a:cxnSpLocks/>
          </p:cNvCxnSpPr>
          <p:nvPr/>
        </p:nvCxnSpPr>
        <p:spPr>
          <a:xfrm>
            <a:off x="2709863" y="3374956"/>
            <a:ext cx="6772275" cy="0"/>
          </a:xfrm>
          <a:prstGeom prst="line">
            <a:avLst/>
          </a:prstGeom>
          <a:ln w="38100">
            <a:solidFill>
              <a:srgbClr val="B95B76"/>
            </a:solidFill>
          </a:ln>
        </p:spPr>
        <p:style>
          <a:lnRef idx="2">
            <a:schemeClr val="accent1"/>
          </a:lnRef>
          <a:fillRef idx="0">
            <a:schemeClr val="accent1"/>
          </a:fillRef>
          <a:effectRef idx="1">
            <a:schemeClr val="accent1"/>
          </a:effectRef>
          <a:fontRef idx="minor">
            <a:schemeClr val="tx1"/>
          </a:fontRef>
        </p:style>
      </p:cxnSp>
      <p:pic>
        <p:nvPicPr>
          <p:cNvPr id="10" name="Graphic 9" descr="First aid kit with solid fill">
            <a:extLst>
              <a:ext uri="{FF2B5EF4-FFF2-40B4-BE49-F238E27FC236}">
                <a16:creationId xmlns:a16="http://schemas.microsoft.com/office/drawing/2014/main" id="{B522AFE5-99E5-A259-A419-BAB192F9B1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01640" y="703703"/>
            <a:ext cx="1188720" cy="1188720"/>
          </a:xfrm>
          <a:prstGeom prst="rect">
            <a:avLst/>
          </a:prstGeom>
        </p:spPr>
      </p:pic>
    </p:spTree>
    <p:extLst>
      <p:ext uri="{BB962C8B-B14F-4D97-AF65-F5344CB8AC3E}">
        <p14:creationId xmlns:p14="http://schemas.microsoft.com/office/powerpoint/2010/main" val="2406903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66160FE-6C42-B2C3-7904-0EBF0B7D89CC}"/>
              </a:ext>
            </a:extLst>
          </p:cNvPr>
          <p:cNvSpPr/>
          <p:nvPr/>
        </p:nvSpPr>
        <p:spPr>
          <a:xfrm>
            <a:off x="844061" y="738554"/>
            <a:ext cx="5081954" cy="538089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81509B-FB99-DF1B-BE4A-91EC91CE7933}"/>
              </a:ext>
            </a:extLst>
          </p:cNvPr>
          <p:cNvSpPr>
            <a:spLocks noGrp="1"/>
          </p:cNvSpPr>
          <p:nvPr>
            <p:ph idx="1"/>
          </p:nvPr>
        </p:nvSpPr>
        <p:spPr>
          <a:xfrm>
            <a:off x="1324708" y="1090246"/>
            <a:ext cx="4114800" cy="5029200"/>
          </a:xfrm>
        </p:spPr>
        <p:txBody>
          <a:bodyPr>
            <a:normAutofit lnSpcReduction="10000"/>
          </a:bodyPr>
          <a:lstStyle/>
          <a:p>
            <a:pPr marL="0" indent="0">
              <a:buNone/>
            </a:pPr>
            <a:r>
              <a:rPr lang="en-US" sz="3200" b="1" dirty="0">
                <a:solidFill>
                  <a:schemeClr val="accent6">
                    <a:lumMod val="75000"/>
                  </a:schemeClr>
                </a:solidFill>
              </a:rPr>
              <a:t>       </a:t>
            </a:r>
            <a:r>
              <a:rPr lang="en-US" sz="3200" b="1" dirty="0">
                <a:solidFill>
                  <a:schemeClr val="accent6">
                    <a:lumMod val="50000"/>
                  </a:schemeClr>
                </a:solidFill>
              </a:rPr>
              <a:t>Business Problem</a:t>
            </a:r>
          </a:p>
          <a:p>
            <a:pPr marL="0" indent="0">
              <a:buNone/>
            </a:pPr>
            <a:endParaRPr lang="en-US" sz="600" b="1" dirty="0">
              <a:solidFill>
                <a:schemeClr val="accent6">
                  <a:lumMod val="75000"/>
                </a:schemeClr>
              </a:solidFill>
            </a:endParaRPr>
          </a:p>
          <a:p>
            <a:r>
              <a:rPr lang="en-US" sz="2600" dirty="0">
                <a:solidFill>
                  <a:schemeClr val="bg2">
                    <a:lumMod val="25000"/>
                  </a:schemeClr>
                </a:solidFill>
              </a:rPr>
              <a:t>Healthcare leaders need reliable ways to compare hospital quality performance across Washington and identify opportunities for quality improvement.</a:t>
            </a:r>
          </a:p>
          <a:p>
            <a:r>
              <a:rPr lang="en-US" sz="2600" dirty="0">
                <a:solidFill>
                  <a:schemeClr val="bg2">
                    <a:lumMod val="25000"/>
                  </a:schemeClr>
                </a:solidFill>
              </a:rPr>
              <a:t>CMS publishes extensive hospital quality data, but it can be difficult to interpret and compare across facilities.</a:t>
            </a:r>
          </a:p>
        </p:txBody>
      </p:sp>
      <p:sp>
        <p:nvSpPr>
          <p:cNvPr id="8" name="Rectangle: Rounded Corners 7">
            <a:extLst>
              <a:ext uri="{FF2B5EF4-FFF2-40B4-BE49-F238E27FC236}">
                <a16:creationId xmlns:a16="http://schemas.microsoft.com/office/drawing/2014/main" id="{4A962859-8A52-16B6-BABE-29D99DC1B577}"/>
              </a:ext>
            </a:extLst>
          </p:cNvPr>
          <p:cNvSpPr/>
          <p:nvPr/>
        </p:nvSpPr>
        <p:spPr>
          <a:xfrm>
            <a:off x="6254262" y="738554"/>
            <a:ext cx="5081954" cy="538089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8F8C1186-A896-920C-C40D-02CCAE1D998B}"/>
              </a:ext>
            </a:extLst>
          </p:cNvPr>
          <p:cNvSpPr txBox="1">
            <a:spLocks/>
          </p:cNvSpPr>
          <p:nvPr/>
        </p:nvSpPr>
        <p:spPr>
          <a:xfrm>
            <a:off x="6858001" y="1090246"/>
            <a:ext cx="4114800"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accent6">
                    <a:lumMod val="75000"/>
                  </a:schemeClr>
                </a:solidFill>
              </a:rPr>
              <a:t>     </a:t>
            </a:r>
            <a:r>
              <a:rPr lang="en-US" sz="3200" b="1" dirty="0">
                <a:solidFill>
                  <a:schemeClr val="accent6">
                    <a:lumMod val="50000"/>
                  </a:schemeClr>
                </a:solidFill>
              </a:rPr>
              <a:t>Objective</a:t>
            </a:r>
          </a:p>
          <a:p>
            <a:pPr marL="0" indent="0">
              <a:buNone/>
            </a:pPr>
            <a:endParaRPr lang="en-US" sz="600" b="1" dirty="0">
              <a:solidFill>
                <a:schemeClr val="accent6">
                  <a:lumMod val="75000"/>
                </a:schemeClr>
              </a:solidFill>
            </a:endParaRPr>
          </a:p>
          <a:p>
            <a:pPr marL="0" indent="0">
              <a:buNone/>
            </a:pPr>
            <a:r>
              <a:rPr lang="en-US" sz="2600" dirty="0">
                <a:solidFill>
                  <a:schemeClr val="bg2">
                    <a:lumMod val="25000"/>
                  </a:schemeClr>
                </a:solidFill>
              </a:rPr>
              <a:t>Develop an executive Excel dashboard that transforms CMS hospital quality data into clear, actionable insights for statewide benchmarking and healthcare quality improvement.</a:t>
            </a:r>
          </a:p>
        </p:txBody>
      </p:sp>
      <p:pic>
        <p:nvPicPr>
          <p:cNvPr id="10" name="Graphic 9" descr="Hospital outline">
            <a:extLst>
              <a:ext uri="{FF2B5EF4-FFF2-40B4-BE49-F238E27FC236}">
                <a16:creationId xmlns:a16="http://schemas.microsoft.com/office/drawing/2014/main" id="{7E9B2B79-2607-B951-3BA5-B136AAA994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9199" y="967154"/>
            <a:ext cx="640080" cy="640080"/>
          </a:xfrm>
          <a:prstGeom prst="rect">
            <a:avLst/>
          </a:prstGeom>
        </p:spPr>
      </p:pic>
      <p:pic>
        <p:nvPicPr>
          <p:cNvPr id="12" name="Graphic 11" descr="Bullseye with solid fill">
            <a:extLst>
              <a:ext uri="{FF2B5EF4-FFF2-40B4-BE49-F238E27FC236}">
                <a16:creationId xmlns:a16="http://schemas.microsoft.com/office/drawing/2014/main" id="{3C7B6FB7-2A46-E6AE-D7EA-89BDCC3CE5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29046" y="1058594"/>
            <a:ext cx="548640" cy="548640"/>
          </a:xfrm>
          <a:prstGeom prst="rect">
            <a:avLst/>
          </a:prstGeom>
        </p:spPr>
      </p:pic>
      <p:sp>
        <p:nvSpPr>
          <p:cNvPr id="13" name="TextBox 12">
            <a:extLst>
              <a:ext uri="{FF2B5EF4-FFF2-40B4-BE49-F238E27FC236}">
                <a16:creationId xmlns:a16="http://schemas.microsoft.com/office/drawing/2014/main" id="{B53AF64D-079A-91A7-0365-93EA92E7B8C3}"/>
              </a:ext>
            </a:extLst>
          </p:cNvPr>
          <p:cNvSpPr txBox="1"/>
          <p:nvPr/>
        </p:nvSpPr>
        <p:spPr>
          <a:xfrm>
            <a:off x="844061" y="6242544"/>
            <a:ext cx="10492155" cy="292388"/>
          </a:xfrm>
          <a:prstGeom prst="rect">
            <a:avLst/>
          </a:prstGeom>
          <a:noFill/>
        </p:spPr>
        <p:txBody>
          <a:bodyPr wrap="square" rtlCol="0">
            <a:spAutoFit/>
          </a:bodyPr>
          <a:lstStyle/>
          <a:p>
            <a:pPr algn="ctr"/>
            <a:r>
              <a:rPr lang="en-US" sz="1300" b="1" dirty="0">
                <a:solidFill>
                  <a:schemeClr val="bg2">
                    <a:lumMod val="50000"/>
                  </a:schemeClr>
                </a:solidFill>
              </a:rPr>
              <a:t>Dataset: </a:t>
            </a:r>
            <a:r>
              <a:rPr lang="en-US" sz="1300" dirty="0">
                <a:solidFill>
                  <a:schemeClr val="bg2">
                    <a:lumMod val="50000"/>
                  </a:schemeClr>
                </a:solidFill>
              </a:rPr>
              <a:t>CMS Hospital Compare • 100 Washington Hospitals • 36 Counties</a:t>
            </a:r>
          </a:p>
        </p:txBody>
      </p:sp>
      <p:sp>
        <p:nvSpPr>
          <p:cNvPr id="15" name="Rectangle 14">
            <a:extLst>
              <a:ext uri="{FF2B5EF4-FFF2-40B4-BE49-F238E27FC236}">
                <a16:creationId xmlns:a16="http://schemas.microsoft.com/office/drawing/2014/main" id="{1179B4E0-0674-3B0F-D0C5-1E9F835313A3}"/>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82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EB26BA51-4D47-0341-30A4-B950089CB6C3}"/>
              </a:ext>
            </a:extLst>
          </p:cNvPr>
          <p:cNvSpPr/>
          <p:nvPr/>
        </p:nvSpPr>
        <p:spPr>
          <a:xfrm>
            <a:off x="844061" y="738554"/>
            <a:ext cx="5081954" cy="538089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B10C449A-3752-4FB4-4E0C-3F6367E1731C}"/>
              </a:ext>
            </a:extLst>
          </p:cNvPr>
          <p:cNvSpPr>
            <a:spLocks noGrp="1"/>
          </p:cNvSpPr>
          <p:nvPr>
            <p:ph idx="1"/>
          </p:nvPr>
        </p:nvSpPr>
        <p:spPr>
          <a:xfrm>
            <a:off x="1324708" y="1090246"/>
            <a:ext cx="4148813" cy="5029200"/>
          </a:xfrm>
        </p:spPr>
        <p:txBody>
          <a:bodyPr>
            <a:normAutofit/>
          </a:bodyPr>
          <a:lstStyle/>
          <a:p>
            <a:pPr marL="0" indent="0">
              <a:buNone/>
            </a:pPr>
            <a:r>
              <a:rPr lang="en-US" sz="3200" b="1" dirty="0">
                <a:solidFill>
                  <a:schemeClr val="accent6">
                    <a:lumMod val="75000"/>
                  </a:schemeClr>
                </a:solidFill>
              </a:rPr>
              <a:t>      </a:t>
            </a:r>
            <a:r>
              <a:rPr lang="en-US" sz="3200" b="1" dirty="0">
                <a:solidFill>
                  <a:schemeClr val="accent6">
                    <a:lumMod val="50000"/>
                  </a:schemeClr>
                </a:solidFill>
              </a:rPr>
              <a:t>Business Question</a:t>
            </a:r>
            <a:endParaRPr lang="en-US" sz="600" b="1" dirty="0">
              <a:solidFill>
                <a:schemeClr val="accent6">
                  <a:lumMod val="50000"/>
                </a:schemeClr>
              </a:solidFill>
            </a:endParaRPr>
          </a:p>
          <a:p>
            <a:pPr marL="0" indent="0">
              <a:buNone/>
            </a:pPr>
            <a:endParaRPr lang="en-US" sz="600" b="1" dirty="0">
              <a:solidFill>
                <a:schemeClr val="accent6">
                  <a:lumMod val="75000"/>
                </a:schemeClr>
              </a:solidFill>
            </a:endParaRPr>
          </a:p>
          <a:p>
            <a:pPr marL="0" indent="0">
              <a:buNone/>
            </a:pPr>
            <a:r>
              <a:rPr lang="en-US" sz="2400" dirty="0">
                <a:solidFill>
                  <a:schemeClr val="bg2">
                    <a:lumMod val="25000"/>
                  </a:schemeClr>
                </a:solidFill>
              </a:rPr>
              <a:t>How does hospital quality performance vary among Washington hospitals, </a:t>
            </a:r>
          </a:p>
          <a:p>
            <a:pPr marL="0" indent="0">
              <a:spcBef>
                <a:spcPts val="0"/>
              </a:spcBef>
              <a:buNone/>
            </a:pPr>
            <a:r>
              <a:rPr lang="en-US" sz="2400" dirty="0">
                <a:solidFill>
                  <a:schemeClr val="bg2">
                    <a:lumMod val="25000"/>
                  </a:schemeClr>
                </a:solidFill>
              </a:rPr>
              <a:t>and what opportunities exist to support </a:t>
            </a:r>
            <a:r>
              <a:rPr lang="en-US" sz="2400" b="1" dirty="0">
                <a:solidFill>
                  <a:schemeClr val="bg2">
                    <a:lumMod val="25000"/>
                  </a:schemeClr>
                </a:solidFill>
              </a:rPr>
              <a:t>healthcare quality improvement</a:t>
            </a:r>
            <a:r>
              <a:rPr lang="en-US" sz="2400" dirty="0">
                <a:solidFill>
                  <a:schemeClr val="bg2">
                    <a:lumMod val="25000"/>
                  </a:schemeClr>
                </a:solidFill>
              </a:rPr>
              <a:t>?</a:t>
            </a:r>
            <a:endParaRPr lang="en-US" sz="2400" b="1" dirty="0">
              <a:solidFill>
                <a:schemeClr val="bg2">
                  <a:lumMod val="25000"/>
                </a:schemeClr>
              </a:solidFill>
            </a:endParaRPr>
          </a:p>
        </p:txBody>
      </p:sp>
      <p:sp>
        <p:nvSpPr>
          <p:cNvPr id="13" name="Rectangle: Rounded Corners 12">
            <a:extLst>
              <a:ext uri="{FF2B5EF4-FFF2-40B4-BE49-F238E27FC236}">
                <a16:creationId xmlns:a16="http://schemas.microsoft.com/office/drawing/2014/main" id="{2C2C92DB-85D7-B092-7DEE-A436DC04D7E3}"/>
              </a:ext>
            </a:extLst>
          </p:cNvPr>
          <p:cNvSpPr/>
          <p:nvPr/>
        </p:nvSpPr>
        <p:spPr>
          <a:xfrm>
            <a:off x="6254262" y="738554"/>
            <a:ext cx="5081954" cy="538089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357BFF3D-54CE-EEA0-7167-7657473B255C}"/>
              </a:ext>
            </a:extLst>
          </p:cNvPr>
          <p:cNvSpPr txBox="1">
            <a:spLocks/>
          </p:cNvSpPr>
          <p:nvPr/>
        </p:nvSpPr>
        <p:spPr>
          <a:xfrm>
            <a:off x="6858001" y="1090246"/>
            <a:ext cx="4114800"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accent6">
                    <a:lumMod val="75000"/>
                  </a:schemeClr>
                </a:solidFill>
              </a:rPr>
              <a:t>     </a:t>
            </a:r>
            <a:r>
              <a:rPr lang="en-US" sz="3200" b="1" dirty="0">
                <a:solidFill>
                  <a:schemeClr val="accent6">
                    <a:lumMod val="50000"/>
                  </a:schemeClr>
                </a:solidFill>
              </a:rPr>
              <a:t>Project Approach</a:t>
            </a:r>
          </a:p>
          <a:p>
            <a:pPr marL="0" indent="0">
              <a:buNone/>
            </a:pPr>
            <a:endParaRPr lang="en-US" sz="600" b="1" dirty="0">
              <a:solidFill>
                <a:schemeClr val="accent6">
                  <a:lumMod val="75000"/>
                </a:schemeClr>
              </a:solidFill>
            </a:endParaRPr>
          </a:p>
          <a:p>
            <a:r>
              <a:rPr lang="en-US" sz="2400" dirty="0">
                <a:solidFill>
                  <a:schemeClr val="bg2">
                    <a:lumMod val="25000"/>
                  </a:schemeClr>
                </a:solidFill>
              </a:rPr>
              <a:t>Filtered CMS Hospital Compare data to Washington hospitals </a:t>
            </a:r>
          </a:p>
          <a:p>
            <a:r>
              <a:rPr lang="en-US" sz="2400" dirty="0">
                <a:solidFill>
                  <a:schemeClr val="bg2">
                    <a:lumMod val="25000"/>
                  </a:schemeClr>
                </a:solidFill>
              </a:rPr>
              <a:t>Explored trends using Excel PivotTables </a:t>
            </a:r>
          </a:p>
          <a:p>
            <a:r>
              <a:rPr lang="en-US" sz="2400" dirty="0">
                <a:solidFill>
                  <a:schemeClr val="bg2">
                    <a:lumMod val="25000"/>
                  </a:schemeClr>
                </a:solidFill>
              </a:rPr>
              <a:t>Calculated summary metrics and KPIs </a:t>
            </a:r>
          </a:p>
          <a:p>
            <a:r>
              <a:rPr lang="en-US" sz="2400" dirty="0">
                <a:solidFill>
                  <a:schemeClr val="bg2">
                    <a:lumMod val="25000"/>
                  </a:schemeClr>
                </a:solidFill>
              </a:rPr>
              <a:t>Designed executive dashboards to communicate findings</a:t>
            </a:r>
            <a:endParaRPr lang="en-US" sz="2600" dirty="0">
              <a:solidFill>
                <a:schemeClr val="bg2">
                  <a:lumMod val="25000"/>
                </a:schemeClr>
              </a:solidFill>
            </a:endParaRPr>
          </a:p>
        </p:txBody>
      </p:sp>
      <p:sp>
        <p:nvSpPr>
          <p:cNvPr id="17" name="TextBox 16">
            <a:extLst>
              <a:ext uri="{FF2B5EF4-FFF2-40B4-BE49-F238E27FC236}">
                <a16:creationId xmlns:a16="http://schemas.microsoft.com/office/drawing/2014/main" id="{8D3C2C44-9B51-360D-D9E1-B599294FFDA4}"/>
              </a:ext>
            </a:extLst>
          </p:cNvPr>
          <p:cNvSpPr txBox="1"/>
          <p:nvPr/>
        </p:nvSpPr>
        <p:spPr>
          <a:xfrm>
            <a:off x="844061" y="6242544"/>
            <a:ext cx="10492155" cy="292388"/>
          </a:xfrm>
          <a:prstGeom prst="rect">
            <a:avLst/>
          </a:prstGeom>
          <a:noFill/>
        </p:spPr>
        <p:txBody>
          <a:bodyPr wrap="square" rtlCol="0">
            <a:spAutoFit/>
          </a:bodyPr>
          <a:lstStyle/>
          <a:p>
            <a:pPr algn="ctr"/>
            <a:r>
              <a:rPr lang="en-US" sz="1300" b="1" dirty="0">
                <a:solidFill>
                  <a:schemeClr val="bg2">
                    <a:lumMod val="50000"/>
                  </a:schemeClr>
                </a:solidFill>
              </a:rPr>
              <a:t>Dataset: </a:t>
            </a:r>
            <a:r>
              <a:rPr lang="en-US" sz="1300" dirty="0">
                <a:solidFill>
                  <a:schemeClr val="bg2">
                    <a:lumMod val="50000"/>
                  </a:schemeClr>
                </a:solidFill>
              </a:rPr>
              <a:t>CMS Hospital Compare • </a:t>
            </a:r>
            <a:r>
              <a:rPr lang="en-US" sz="1300" b="1" dirty="0">
                <a:solidFill>
                  <a:schemeClr val="bg2">
                    <a:lumMod val="50000"/>
                  </a:schemeClr>
                </a:solidFill>
              </a:rPr>
              <a:t>Tools: </a:t>
            </a:r>
            <a:r>
              <a:rPr lang="en-US" sz="1300" dirty="0">
                <a:solidFill>
                  <a:schemeClr val="bg2">
                    <a:lumMod val="50000"/>
                  </a:schemeClr>
                </a:solidFill>
              </a:rPr>
              <a:t>Microsoft Excel, PivotTables, Dashboard Development</a:t>
            </a:r>
          </a:p>
        </p:txBody>
      </p:sp>
      <p:pic>
        <p:nvPicPr>
          <p:cNvPr id="19" name="Graphic 18" descr="Help with solid fill">
            <a:extLst>
              <a:ext uri="{FF2B5EF4-FFF2-40B4-BE49-F238E27FC236}">
                <a16:creationId xmlns:a16="http://schemas.microsoft.com/office/drawing/2014/main" id="{A1566F62-1892-D830-0F59-74AF01A007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1614" y="1037491"/>
            <a:ext cx="640080" cy="640080"/>
          </a:xfrm>
          <a:prstGeom prst="rect">
            <a:avLst/>
          </a:prstGeom>
        </p:spPr>
      </p:pic>
      <p:pic>
        <p:nvPicPr>
          <p:cNvPr id="21" name="Graphic 20" descr="Cause And Effect with solid fill">
            <a:extLst>
              <a:ext uri="{FF2B5EF4-FFF2-40B4-BE49-F238E27FC236}">
                <a16:creationId xmlns:a16="http://schemas.microsoft.com/office/drawing/2014/main" id="{E39AA307-A0E4-BAFF-0FA7-9342BBA17C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90716" y="1037491"/>
            <a:ext cx="640080" cy="640080"/>
          </a:xfrm>
          <a:prstGeom prst="rect">
            <a:avLst/>
          </a:prstGeom>
        </p:spPr>
      </p:pic>
      <p:sp>
        <p:nvSpPr>
          <p:cNvPr id="23" name="Rectangle 22">
            <a:extLst>
              <a:ext uri="{FF2B5EF4-FFF2-40B4-BE49-F238E27FC236}">
                <a16:creationId xmlns:a16="http://schemas.microsoft.com/office/drawing/2014/main" id="{A9EB0F59-59FF-F9BA-74C3-25F8816FFF02}"/>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420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654512-D564-D3D0-E335-A72E67DE5418}"/>
              </a:ext>
            </a:extLst>
          </p:cNvPr>
          <p:cNvSpPr/>
          <p:nvPr/>
        </p:nvSpPr>
        <p:spPr>
          <a:xfrm>
            <a:off x="844061" y="738554"/>
            <a:ext cx="10492154" cy="538089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3420841-2924-A88C-D294-E8CDB0101C50}"/>
              </a:ext>
            </a:extLst>
          </p:cNvPr>
          <p:cNvSpPr txBox="1">
            <a:spLocks/>
          </p:cNvSpPr>
          <p:nvPr/>
        </p:nvSpPr>
        <p:spPr>
          <a:xfrm>
            <a:off x="1324708" y="1090246"/>
            <a:ext cx="9223089" cy="5873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dirty="0">
                <a:solidFill>
                  <a:schemeClr val="accent6">
                    <a:lumMod val="75000"/>
                  </a:schemeClr>
                </a:solidFill>
              </a:rPr>
              <a:t>         </a:t>
            </a:r>
            <a:r>
              <a:rPr lang="en-US" sz="3200" b="1" dirty="0">
                <a:solidFill>
                  <a:schemeClr val="accent6">
                    <a:lumMod val="50000"/>
                  </a:schemeClr>
                </a:solidFill>
              </a:rPr>
              <a:t>From Data to Dashboard</a:t>
            </a:r>
            <a:endParaRPr lang="en-US" sz="2400" b="1" dirty="0">
              <a:solidFill>
                <a:schemeClr val="accent6">
                  <a:lumMod val="50000"/>
                </a:schemeClr>
              </a:solidFill>
            </a:endParaRPr>
          </a:p>
        </p:txBody>
      </p:sp>
      <p:sp>
        <p:nvSpPr>
          <p:cNvPr id="6" name="TextBox 5">
            <a:extLst>
              <a:ext uri="{FF2B5EF4-FFF2-40B4-BE49-F238E27FC236}">
                <a16:creationId xmlns:a16="http://schemas.microsoft.com/office/drawing/2014/main" id="{DB97BEF6-BCC5-D387-4CB8-033CEEB0AD7C}"/>
              </a:ext>
            </a:extLst>
          </p:cNvPr>
          <p:cNvSpPr txBox="1"/>
          <p:nvPr/>
        </p:nvSpPr>
        <p:spPr>
          <a:xfrm>
            <a:off x="844061" y="6242544"/>
            <a:ext cx="10492155" cy="292388"/>
          </a:xfrm>
          <a:prstGeom prst="rect">
            <a:avLst/>
          </a:prstGeom>
          <a:noFill/>
        </p:spPr>
        <p:txBody>
          <a:bodyPr wrap="square" rtlCol="0">
            <a:spAutoFit/>
          </a:bodyPr>
          <a:lstStyle/>
          <a:p>
            <a:pPr algn="ctr"/>
            <a:r>
              <a:rPr lang="en-US" sz="1300" b="1" dirty="0">
                <a:solidFill>
                  <a:schemeClr val="bg2">
                    <a:lumMod val="50000"/>
                  </a:schemeClr>
                </a:solidFill>
              </a:rPr>
              <a:t>Dataset: </a:t>
            </a:r>
            <a:r>
              <a:rPr lang="en-US" sz="1300" dirty="0">
                <a:solidFill>
                  <a:schemeClr val="bg2">
                    <a:lumMod val="50000"/>
                  </a:schemeClr>
                </a:solidFill>
              </a:rPr>
              <a:t>CMS Hospital Compare • </a:t>
            </a:r>
            <a:r>
              <a:rPr lang="en-US" sz="1300" b="1" dirty="0">
                <a:solidFill>
                  <a:schemeClr val="bg2">
                    <a:lumMod val="50000"/>
                  </a:schemeClr>
                </a:solidFill>
              </a:rPr>
              <a:t>Tools: </a:t>
            </a:r>
            <a:r>
              <a:rPr lang="en-US" sz="1300" dirty="0">
                <a:solidFill>
                  <a:schemeClr val="bg2">
                    <a:lumMod val="50000"/>
                  </a:schemeClr>
                </a:solidFill>
              </a:rPr>
              <a:t>Microsoft Excel, PivotTables, Dashboard Development</a:t>
            </a:r>
          </a:p>
        </p:txBody>
      </p:sp>
      <p:pic>
        <p:nvPicPr>
          <p:cNvPr id="7" name="Graphic 6" descr="Transfer with solid fill">
            <a:extLst>
              <a:ext uri="{FF2B5EF4-FFF2-40B4-BE49-F238E27FC236}">
                <a16:creationId xmlns:a16="http://schemas.microsoft.com/office/drawing/2014/main" id="{D5342359-793B-E6E5-D339-AA65C2B1A07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291767" y="1037491"/>
            <a:ext cx="640080" cy="640080"/>
          </a:xfrm>
          <a:prstGeom prst="rect">
            <a:avLst/>
          </a:prstGeom>
        </p:spPr>
      </p:pic>
      <p:sp>
        <p:nvSpPr>
          <p:cNvPr id="9" name="TextBox 8">
            <a:extLst>
              <a:ext uri="{FF2B5EF4-FFF2-40B4-BE49-F238E27FC236}">
                <a16:creationId xmlns:a16="http://schemas.microsoft.com/office/drawing/2014/main" id="{DBD9B0DD-2620-9245-52B4-E228A44D98FE}"/>
              </a:ext>
            </a:extLst>
          </p:cNvPr>
          <p:cNvSpPr txBox="1"/>
          <p:nvPr/>
        </p:nvSpPr>
        <p:spPr>
          <a:xfrm>
            <a:off x="1291767" y="2038180"/>
            <a:ext cx="4194633" cy="3139321"/>
          </a:xfrm>
          <a:prstGeom prst="rect">
            <a:avLst/>
          </a:prstGeom>
          <a:noFill/>
        </p:spPr>
        <p:txBody>
          <a:bodyPr wrap="square" rtlCol="0">
            <a:spAutoFit/>
          </a:bodyPr>
          <a:lstStyle/>
          <a:p>
            <a:pPr algn="ctr"/>
            <a:r>
              <a:rPr lang="en-US" dirty="0">
                <a:solidFill>
                  <a:schemeClr val="bg2">
                    <a:lumMod val="25000"/>
                  </a:schemeClr>
                </a:solidFill>
              </a:rPr>
              <a:t>📄 Import CMS Hospital Compare Data</a:t>
            </a:r>
          </a:p>
          <a:p>
            <a:pPr algn="ctr"/>
            <a:r>
              <a:rPr lang="en-US" dirty="0">
                <a:solidFill>
                  <a:schemeClr val="bg2">
                    <a:lumMod val="25000"/>
                  </a:schemeClr>
                </a:solidFill>
              </a:rPr>
              <a:t>↓</a:t>
            </a:r>
          </a:p>
          <a:p>
            <a:pPr algn="ctr"/>
            <a:r>
              <a:rPr lang="en-US" dirty="0">
                <a:solidFill>
                  <a:schemeClr val="bg2">
                    <a:lumMod val="25000"/>
                  </a:schemeClr>
                </a:solidFill>
              </a:rPr>
              <a:t>🧹 Filter &amp; Prepare Washington Data</a:t>
            </a:r>
          </a:p>
          <a:p>
            <a:pPr algn="ctr"/>
            <a:r>
              <a:rPr lang="en-US" dirty="0">
                <a:solidFill>
                  <a:schemeClr val="bg2">
                    <a:lumMod val="25000"/>
                  </a:schemeClr>
                </a:solidFill>
              </a:rPr>
              <a:t>↓</a:t>
            </a:r>
          </a:p>
          <a:p>
            <a:pPr algn="ctr"/>
            <a:r>
              <a:rPr lang="en-US" dirty="0">
                <a:solidFill>
                  <a:schemeClr val="bg2">
                    <a:lumMod val="25000"/>
                  </a:schemeClr>
                </a:solidFill>
              </a:rPr>
              <a:t>📊 Analyze Using PivotTables</a:t>
            </a:r>
          </a:p>
          <a:p>
            <a:pPr algn="ctr"/>
            <a:r>
              <a:rPr lang="en-US" dirty="0">
                <a:solidFill>
                  <a:schemeClr val="bg2">
                    <a:lumMod val="25000"/>
                  </a:schemeClr>
                </a:solidFill>
              </a:rPr>
              <a:t>↓</a:t>
            </a:r>
          </a:p>
          <a:p>
            <a:pPr algn="ctr"/>
            <a:r>
              <a:rPr lang="en-US" dirty="0">
                <a:solidFill>
                  <a:schemeClr val="bg2">
                    <a:lumMod val="25000"/>
                  </a:schemeClr>
                </a:solidFill>
              </a:rPr>
              <a:t>📈 Calculate KPIs &amp; Summary Metrics</a:t>
            </a:r>
          </a:p>
          <a:p>
            <a:pPr algn="ctr"/>
            <a:r>
              <a:rPr lang="en-US" dirty="0">
                <a:solidFill>
                  <a:schemeClr val="bg2">
                    <a:lumMod val="25000"/>
                  </a:schemeClr>
                </a:solidFill>
              </a:rPr>
              <a:t>↓</a:t>
            </a:r>
          </a:p>
          <a:p>
            <a:pPr algn="ctr"/>
            <a:r>
              <a:rPr lang="en-US" dirty="0">
                <a:solidFill>
                  <a:schemeClr val="bg2">
                    <a:lumMod val="25000"/>
                  </a:schemeClr>
                </a:solidFill>
              </a:rPr>
              <a:t>📋 Build Executive Dashboards</a:t>
            </a:r>
          </a:p>
          <a:p>
            <a:pPr algn="ctr"/>
            <a:r>
              <a:rPr lang="en-US" dirty="0">
                <a:solidFill>
                  <a:schemeClr val="bg2">
                    <a:lumMod val="25000"/>
                  </a:schemeClr>
                </a:solidFill>
              </a:rPr>
              <a:t>↓</a:t>
            </a:r>
          </a:p>
          <a:p>
            <a:pPr algn="ctr"/>
            <a:r>
              <a:rPr lang="en-US" dirty="0">
                <a:solidFill>
                  <a:schemeClr val="bg2">
                    <a:lumMod val="25000"/>
                  </a:schemeClr>
                </a:solidFill>
              </a:rPr>
              <a:t>💡 Communicate Business Conclusions</a:t>
            </a:r>
          </a:p>
        </p:txBody>
      </p:sp>
      <p:sp>
        <p:nvSpPr>
          <p:cNvPr id="11" name="TextBox 10">
            <a:extLst>
              <a:ext uri="{FF2B5EF4-FFF2-40B4-BE49-F238E27FC236}">
                <a16:creationId xmlns:a16="http://schemas.microsoft.com/office/drawing/2014/main" id="{9EEE0E2D-58BA-7CBF-CEB9-4C28B7FB5772}"/>
              </a:ext>
            </a:extLst>
          </p:cNvPr>
          <p:cNvSpPr txBox="1"/>
          <p:nvPr/>
        </p:nvSpPr>
        <p:spPr>
          <a:xfrm>
            <a:off x="5934106" y="2038180"/>
            <a:ext cx="4613691" cy="3647152"/>
          </a:xfrm>
          <a:prstGeom prst="rect">
            <a:avLst/>
          </a:prstGeom>
          <a:noFill/>
        </p:spPr>
        <p:txBody>
          <a:bodyPr wrap="square" rtlCol="0">
            <a:spAutoFit/>
          </a:bodyPr>
          <a:lstStyle/>
          <a:p>
            <a:r>
              <a:rPr lang="en-US" b="1" dirty="0">
                <a:solidFill>
                  <a:schemeClr val="accent6">
                    <a:lumMod val="75000"/>
                  </a:schemeClr>
                </a:solidFill>
              </a:rPr>
              <a:t>Filter &amp; Prepare</a:t>
            </a:r>
            <a:r>
              <a:rPr lang="en-US" dirty="0">
                <a:solidFill>
                  <a:schemeClr val="accent6">
                    <a:lumMod val="75000"/>
                  </a:schemeClr>
                </a:solidFill>
              </a:rPr>
              <a:t> </a:t>
            </a:r>
            <a:r>
              <a:rPr lang="en-US" dirty="0">
                <a:solidFill>
                  <a:schemeClr val="bg2">
                    <a:lumMod val="25000"/>
                  </a:schemeClr>
                </a:solidFill>
              </a:rPr>
              <a:t>– Limited the dataset to Washington hospitals and validated records.</a:t>
            </a:r>
          </a:p>
          <a:p>
            <a:endParaRPr lang="en-US" sz="1700" dirty="0">
              <a:solidFill>
                <a:schemeClr val="bg2">
                  <a:lumMod val="25000"/>
                </a:schemeClr>
              </a:solidFill>
            </a:endParaRPr>
          </a:p>
          <a:p>
            <a:r>
              <a:rPr lang="en-US" b="1" dirty="0">
                <a:solidFill>
                  <a:schemeClr val="accent6">
                    <a:lumMod val="75000"/>
                  </a:schemeClr>
                </a:solidFill>
              </a:rPr>
              <a:t>Analyze</a:t>
            </a:r>
            <a:r>
              <a:rPr lang="en-US" dirty="0">
                <a:solidFill>
                  <a:schemeClr val="bg2">
                    <a:lumMod val="25000"/>
                  </a:schemeClr>
                </a:solidFill>
              </a:rPr>
              <a:t> – Used PivotTables to identify patterns in hospital type, CMS Overall Star Ratings, and statewide quality performance.</a:t>
            </a:r>
          </a:p>
          <a:p>
            <a:endParaRPr lang="en-US" sz="1700" dirty="0">
              <a:solidFill>
                <a:schemeClr val="bg2">
                  <a:lumMod val="25000"/>
                </a:schemeClr>
              </a:solidFill>
            </a:endParaRPr>
          </a:p>
          <a:p>
            <a:r>
              <a:rPr lang="en-US" dirty="0">
                <a:solidFill>
                  <a:schemeClr val="accent6">
                    <a:lumMod val="75000"/>
                  </a:schemeClr>
                </a:solidFill>
              </a:rPr>
              <a:t> </a:t>
            </a:r>
            <a:r>
              <a:rPr lang="en-US" b="1" dirty="0">
                <a:solidFill>
                  <a:schemeClr val="accent6">
                    <a:lumMod val="75000"/>
                  </a:schemeClr>
                </a:solidFill>
              </a:rPr>
              <a:t>Calculate</a:t>
            </a:r>
            <a:r>
              <a:rPr lang="en-US" dirty="0">
                <a:solidFill>
                  <a:schemeClr val="accent6">
                    <a:lumMod val="75000"/>
                  </a:schemeClr>
                </a:solidFill>
              </a:rPr>
              <a:t> </a:t>
            </a:r>
            <a:r>
              <a:rPr lang="en-US" dirty="0">
                <a:solidFill>
                  <a:schemeClr val="bg2">
                    <a:lumMod val="25000"/>
                  </a:schemeClr>
                </a:solidFill>
              </a:rPr>
              <a:t>– Created summary metrics to support dashboard KPIs. </a:t>
            </a:r>
          </a:p>
          <a:p>
            <a:endParaRPr lang="en-US" sz="1700" dirty="0">
              <a:solidFill>
                <a:schemeClr val="bg2">
                  <a:lumMod val="25000"/>
                </a:schemeClr>
              </a:solidFill>
            </a:endParaRPr>
          </a:p>
          <a:p>
            <a:r>
              <a:rPr lang="en-US" b="1" dirty="0">
                <a:solidFill>
                  <a:schemeClr val="accent6">
                    <a:lumMod val="75000"/>
                  </a:schemeClr>
                </a:solidFill>
              </a:rPr>
              <a:t>Visualize</a:t>
            </a:r>
            <a:r>
              <a:rPr lang="en-US" dirty="0">
                <a:solidFill>
                  <a:schemeClr val="bg2">
                    <a:lumMod val="25000"/>
                  </a:schemeClr>
                </a:solidFill>
              </a:rPr>
              <a:t> – Designed executive dashboards to communicate findings to decision-makers.</a:t>
            </a:r>
          </a:p>
        </p:txBody>
      </p:sp>
      <p:sp>
        <p:nvSpPr>
          <p:cNvPr id="13" name="Rectangle 12">
            <a:extLst>
              <a:ext uri="{FF2B5EF4-FFF2-40B4-BE49-F238E27FC236}">
                <a16:creationId xmlns:a16="http://schemas.microsoft.com/office/drawing/2014/main" id="{1395E3ED-2901-0C94-0795-5E8FBB27036B}"/>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4491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0732A1-29BB-D332-15FA-43223267F952}"/>
              </a:ext>
            </a:extLst>
          </p:cNvPr>
          <p:cNvSpPr txBox="1">
            <a:spLocks/>
          </p:cNvSpPr>
          <p:nvPr/>
        </p:nvSpPr>
        <p:spPr>
          <a:xfrm>
            <a:off x="983757" y="295587"/>
            <a:ext cx="10597543" cy="587325"/>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b="1" dirty="0">
                <a:solidFill>
                  <a:schemeClr val="accent6">
                    <a:lumMod val="50000"/>
                  </a:schemeClr>
                </a:solidFill>
              </a:rPr>
              <a:t>Executive Overview</a:t>
            </a:r>
          </a:p>
          <a:p>
            <a:pPr marL="0" indent="0">
              <a:buNone/>
            </a:pPr>
            <a:r>
              <a:rPr lang="en-US" sz="2500" dirty="0">
                <a:solidFill>
                  <a:srgbClr val="525252"/>
                </a:solidFill>
              </a:rPr>
              <a:t>High-level summary of statewide hospital quality performance and CMS Overall Star Ratings.</a:t>
            </a:r>
            <a:r>
              <a:rPr lang="en-US" sz="2500" b="1" dirty="0">
                <a:solidFill>
                  <a:srgbClr val="525252"/>
                </a:solidFill>
              </a:rPr>
              <a:t> </a:t>
            </a:r>
          </a:p>
        </p:txBody>
      </p:sp>
      <p:sp>
        <p:nvSpPr>
          <p:cNvPr id="6" name="TextBox 5">
            <a:extLst>
              <a:ext uri="{FF2B5EF4-FFF2-40B4-BE49-F238E27FC236}">
                <a16:creationId xmlns:a16="http://schemas.microsoft.com/office/drawing/2014/main" id="{F720DC44-1160-8AE7-3884-20F8BE382F04}"/>
              </a:ext>
            </a:extLst>
          </p:cNvPr>
          <p:cNvSpPr txBox="1"/>
          <p:nvPr/>
        </p:nvSpPr>
        <p:spPr>
          <a:xfrm>
            <a:off x="979990" y="6215605"/>
            <a:ext cx="10232021" cy="292388"/>
          </a:xfrm>
          <a:prstGeom prst="rect">
            <a:avLst/>
          </a:prstGeom>
          <a:noFill/>
        </p:spPr>
        <p:txBody>
          <a:bodyPr wrap="square" rtlCol="0">
            <a:spAutoFit/>
          </a:bodyPr>
          <a:lstStyle/>
          <a:p>
            <a:pPr algn="ctr"/>
            <a:r>
              <a:rPr lang="en-US" sz="1300" dirty="0">
                <a:solidFill>
                  <a:schemeClr val="bg2">
                    <a:lumMod val="50000"/>
                  </a:schemeClr>
                </a:solidFill>
              </a:rPr>
              <a:t>Figure 1. Executive dashboard summarizing statewide hospital quality performance.</a:t>
            </a:r>
          </a:p>
        </p:txBody>
      </p:sp>
      <p:sp>
        <p:nvSpPr>
          <p:cNvPr id="8" name="Rectangle 7">
            <a:extLst>
              <a:ext uri="{FF2B5EF4-FFF2-40B4-BE49-F238E27FC236}">
                <a16:creationId xmlns:a16="http://schemas.microsoft.com/office/drawing/2014/main" id="{CF11C0C7-7BD5-EAC4-3AB6-AB070C9531C5}"/>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7082486-9F7B-2ADC-300D-595E4B61EC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308" y="941710"/>
            <a:ext cx="9047384" cy="5212080"/>
          </a:xfrm>
          <a:prstGeom prst="rect">
            <a:avLst/>
          </a:prstGeom>
        </p:spPr>
      </p:pic>
      <p:pic>
        <p:nvPicPr>
          <p:cNvPr id="20" name="Graphic 19" descr="Presentation with pie chart with solid fill">
            <a:extLst>
              <a:ext uri="{FF2B5EF4-FFF2-40B4-BE49-F238E27FC236}">
                <a16:creationId xmlns:a16="http://schemas.microsoft.com/office/drawing/2014/main" id="{4D7A8D2F-BB3A-3869-58C0-766BD24C51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0932" y="295587"/>
            <a:ext cx="457200" cy="457200"/>
          </a:xfrm>
          <a:prstGeom prst="rect">
            <a:avLst/>
          </a:prstGeom>
        </p:spPr>
      </p:pic>
    </p:spTree>
    <p:extLst>
      <p:ext uri="{BB962C8B-B14F-4D97-AF65-F5344CB8AC3E}">
        <p14:creationId xmlns:p14="http://schemas.microsoft.com/office/powerpoint/2010/main" val="3955389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142FC7-95B6-43D4-EE10-C9F8AAEA0FEC}"/>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A8A6785-1503-5B2C-9883-457E9F017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221" y="1002855"/>
            <a:ext cx="9329558" cy="5289605"/>
          </a:xfrm>
          <a:prstGeom prst="rect">
            <a:avLst/>
          </a:prstGeom>
        </p:spPr>
      </p:pic>
      <p:sp>
        <p:nvSpPr>
          <p:cNvPr id="9" name="Content Placeholder 2">
            <a:extLst>
              <a:ext uri="{FF2B5EF4-FFF2-40B4-BE49-F238E27FC236}">
                <a16:creationId xmlns:a16="http://schemas.microsoft.com/office/drawing/2014/main" id="{F71EA916-0F06-3165-63E5-C4DD01F6B627}"/>
              </a:ext>
            </a:extLst>
          </p:cNvPr>
          <p:cNvSpPr txBox="1">
            <a:spLocks/>
          </p:cNvSpPr>
          <p:nvPr/>
        </p:nvSpPr>
        <p:spPr>
          <a:xfrm>
            <a:off x="936250" y="301654"/>
            <a:ext cx="10597543" cy="587325"/>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b="1" dirty="0">
                <a:solidFill>
                  <a:schemeClr val="accent6">
                    <a:lumMod val="50000"/>
                  </a:schemeClr>
                </a:solidFill>
              </a:rPr>
              <a:t>Performance Analysis</a:t>
            </a:r>
          </a:p>
          <a:p>
            <a:pPr marL="0" indent="0">
              <a:buNone/>
            </a:pPr>
            <a:r>
              <a:rPr lang="en-US" sz="2500" dirty="0">
                <a:solidFill>
                  <a:srgbClr val="525252"/>
                </a:solidFill>
              </a:rPr>
              <a:t>Supporting analysis highlighting hospital characteristics, statewide quality trends, and business conclusions.</a:t>
            </a:r>
          </a:p>
        </p:txBody>
      </p:sp>
      <p:sp>
        <p:nvSpPr>
          <p:cNvPr id="11" name="TextBox 10">
            <a:extLst>
              <a:ext uri="{FF2B5EF4-FFF2-40B4-BE49-F238E27FC236}">
                <a16:creationId xmlns:a16="http://schemas.microsoft.com/office/drawing/2014/main" id="{5BB57760-85B9-69A7-259E-B4EA3B9F8FAC}"/>
              </a:ext>
            </a:extLst>
          </p:cNvPr>
          <p:cNvSpPr txBox="1"/>
          <p:nvPr/>
        </p:nvSpPr>
        <p:spPr>
          <a:xfrm>
            <a:off x="979990" y="6340681"/>
            <a:ext cx="10232021" cy="292388"/>
          </a:xfrm>
          <a:prstGeom prst="rect">
            <a:avLst/>
          </a:prstGeom>
          <a:noFill/>
        </p:spPr>
        <p:txBody>
          <a:bodyPr wrap="square" rtlCol="0">
            <a:spAutoFit/>
          </a:bodyPr>
          <a:lstStyle/>
          <a:p>
            <a:pPr algn="ctr"/>
            <a:r>
              <a:rPr lang="en-US" sz="1300" dirty="0">
                <a:solidFill>
                  <a:schemeClr val="bg2">
                    <a:lumMod val="50000"/>
                  </a:schemeClr>
                </a:solidFill>
              </a:rPr>
              <a:t>Figure 2. Supporting analysis highlighting hospital characteristics and statewide quality performance.</a:t>
            </a:r>
          </a:p>
        </p:txBody>
      </p:sp>
      <p:pic>
        <p:nvPicPr>
          <p:cNvPr id="13" name="Graphic 12" descr="Upward trend with solid fill">
            <a:extLst>
              <a:ext uri="{FF2B5EF4-FFF2-40B4-BE49-F238E27FC236}">
                <a16:creationId xmlns:a16="http://schemas.microsoft.com/office/drawing/2014/main" id="{07F5977B-F233-E1BA-15D5-C5BF797EDE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050" y="301654"/>
            <a:ext cx="457200" cy="457200"/>
          </a:xfrm>
          <a:prstGeom prst="rect">
            <a:avLst/>
          </a:prstGeom>
        </p:spPr>
      </p:pic>
    </p:spTree>
    <p:extLst>
      <p:ext uri="{BB962C8B-B14F-4D97-AF65-F5344CB8AC3E}">
        <p14:creationId xmlns:p14="http://schemas.microsoft.com/office/powerpoint/2010/main" val="1992460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D53D9C-DB0F-0BC8-8B85-C9EEE4812026}"/>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6A43B20E-B0DE-E29D-8339-0B13E47CC320}"/>
              </a:ext>
            </a:extLst>
          </p:cNvPr>
          <p:cNvSpPr txBox="1">
            <a:spLocks/>
          </p:cNvSpPr>
          <p:nvPr/>
        </p:nvSpPr>
        <p:spPr>
          <a:xfrm>
            <a:off x="936250" y="420404"/>
            <a:ext cx="10597543" cy="5873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b="1" dirty="0">
                <a:solidFill>
                  <a:schemeClr val="accent6">
                    <a:lumMod val="50000"/>
                  </a:schemeClr>
                </a:solidFill>
              </a:rPr>
              <a:t>Key Insights</a:t>
            </a:r>
          </a:p>
        </p:txBody>
      </p:sp>
      <p:pic>
        <p:nvPicPr>
          <p:cNvPr id="7" name="Graphic 6" descr="Magnifying glass with solid fill">
            <a:extLst>
              <a:ext uri="{FF2B5EF4-FFF2-40B4-BE49-F238E27FC236}">
                <a16:creationId xmlns:a16="http://schemas.microsoft.com/office/drawing/2014/main" id="{D226856E-AC85-E176-7B67-DEAFE4F758F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79050" y="444154"/>
            <a:ext cx="457200" cy="457200"/>
          </a:xfrm>
          <a:prstGeom prst="rect">
            <a:avLst/>
          </a:prstGeom>
        </p:spPr>
      </p:pic>
      <p:sp>
        <p:nvSpPr>
          <p:cNvPr id="8" name="Rectangle: Rounded Corners 7">
            <a:extLst>
              <a:ext uri="{FF2B5EF4-FFF2-40B4-BE49-F238E27FC236}">
                <a16:creationId xmlns:a16="http://schemas.microsoft.com/office/drawing/2014/main" id="{E3549D9F-A707-EA28-0CED-8FD63F0D2E31}"/>
              </a:ext>
            </a:extLst>
          </p:cNvPr>
          <p:cNvSpPr/>
          <p:nvPr/>
        </p:nvSpPr>
        <p:spPr>
          <a:xfrm>
            <a:off x="844061" y="1059182"/>
            <a:ext cx="5081954" cy="5000886"/>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0F26940C-030F-F0AD-A9EF-5BE3F84522E0}"/>
              </a:ext>
            </a:extLst>
          </p:cNvPr>
          <p:cNvSpPr txBox="1">
            <a:spLocks/>
          </p:cNvSpPr>
          <p:nvPr/>
        </p:nvSpPr>
        <p:spPr>
          <a:xfrm>
            <a:off x="1324708" y="1283177"/>
            <a:ext cx="4148813" cy="477689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solidFill>
                  <a:schemeClr val="accent6">
                    <a:lumMod val="75000"/>
                  </a:schemeClr>
                </a:solidFill>
              </a:rPr>
              <a:t>Analytical Findings</a:t>
            </a:r>
          </a:p>
          <a:p>
            <a:pPr marL="0" indent="0">
              <a:buFont typeface="Arial" panose="020B0604020202020204" pitchFamily="34" charset="0"/>
              <a:buNone/>
            </a:pPr>
            <a:endParaRPr lang="en-US" sz="600" b="1" dirty="0">
              <a:solidFill>
                <a:schemeClr val="accent6">
                  <a:lumMod val="75000"/>
                </a:schemeClr>
              </a:solidFill>
            </a:endParaRPr>
          </a:p>
          <a:p>
            <a:r>
              <a:rPr lang="en-US" sz="2000" b="1" dirty="0">
                <a:solidFill>
                  <a:srgbClr val="525252"/>
                </a:solidFill>
              </a:rPr>
              <a:t>Acute Care Hospitals</a:t>
            </a:r>
            <a:r>
              <a:rPr lang="en-US" sz="2000" dirty="0">
                <a:solidFill>
                  <a:srgbClr val="525252"/>
                </a:solidFill>
              </a:rPr>
              <a:t> accounted for nearly half </a:t>
            </a:r>
            <a:r>
              <a:rPr lang="en-US" sz="2000" i="1" dirty="0">
                <a:solidFill>
                  <a:srgbClr val="525252"/>
                </a:solidFill>
              </a:rPr>
              <a:t>(46%)</a:t>
            </a:r>
            <a:r>
              <a:rPr lang="en-US" sz="2000" dirty="0">
                <a:solidFill>
                  <a:srgbClr val="525252"/>
                </a:solidFill>
              </a:rPr>
              <a:t> of all facilities analyzed. </a:t>
            </a:r>
          </a:p>
          <a:p>
            <a:r>
              <a:rPr lang="en-US" sz="2000" b="1" dirty="0">
                <a:solidFill>
                  <a:srgbClr val="525252"/>
                </a:solidFill>
              </a:rPr>
              <a:t>Critical Access Hospitals</a:t>
            </a:r>
            <a:r>
              <a:rPr lang="en-US" sz="2000" dirty="0">
                <a:solidFill>
                  <a:srgbClr val="525252"/>
                </a:solidFill>
              </a:rPr>
              <a:t> represented </a:t>
            </a:r>
            <a:r>
              <a:rPr lang="en-US" sz="2000" b="1" dirty="0">
                <a:solidFill>
                  <a:srgbClr val="525252"/>
                </a:solidFill>
              </a:rPr>
              <a:t>39%</a:t>
            </a:r>
            <a:r>
              <a:rPr lang="en-US" sz="2000" dirty="0">
                <a:solidFill>
                  <a:srgbClr val="525252"/>
                </a:solidFill>
              </a:rPr>
              <a:t> of hospitals, though many were </a:t>
            </a:r>
            <a:r>
              <a:rPr lang="en-US" sz="2000" b="1" dirty="0">
                <a:solidFill>
                  <a:srgbClr val="525252"/>
                </a:solidFill>
              </a:rPr>
              <a:t>not assigned CMS Overall Star Ratings</a:t>
            </a:r>
            <a:r>
              <a:rPr lang="en-US" sz="2000" dirty="0">
                <a:solidFill>
                  <a:srgbClr val="525252"/>
                </a:solidFill>
              </a:rPr>
              <a:t>. </a:t>
            </a:r>
          </a:p>
          <a:p>
            <a:r>
              <a:rPr lang="en-US" sz="2000" dirty="0">
                <a:solidFill>
                  <a:srgbClr val="525252"/>
                </a:solidFill>
              </a:rPr>
              <a:t>Only </a:t>
            </a:r>
            <a:r>
              <a:rPr lang="en-US" sz="2000" b="1" dirty="0">
                <a:solidFill>
                  <a:srgbClr val="525252"/>
                </a:solidFill>
              </a:rPr>
              <a:t>6 hospitals</a:t>
            </a:r>
            <a:r>
              <a:rPr lang="en-US" sz="2000" dirty="0">
                <a:solidFill>
                  <a:srgbClr val="525252"/>
                </a:solidFill>
              </a:rPr>
              <a:t> achieved the highest possible </a:t>
            </a:r>
            <a:r>
              <a:rPr lang="en-US" sz="2000" b="1" dirty="0">
                <a:solidFill>
                  <a:srgbClr val="525252"/>
                </a:solidFill>
              </a:rPr>
              <a:t>5-Star Rating</a:t>
            </a:r>
            <a:r>
              <a:rPr lang="en-US" sz="2000" dirty="0">
                <a:solidFill>
                  <a:srgbClr val="525252"/>
                </a:solidFill>
              </a:rPr>
              <a:t>. </a:t>
            </a:r>
          </a:p>
          <a:p>
            <a:r>
              <a:rPr lang="en-US" sz="2000" b="1" dirty="0">
                <a:solidFill>
                  <a:srgbClr val="525252"/>
                </a:solidFill>
              </a:rPr>
              <a:t>40 hospitals</a:t>
            </a:r>
            <a:r>
              <a:rPr lang="en-US" sz="2000" dirty="0">
                <a:solidFill>
                  <a:srgbClr val="525252"/>
                </a:solidFill>
              </a:rPr>
              <a:t> were unrated because they were not eligible under CMS methodology.</a:t>
            </a:r>
            <a:endParaRPr lang="en-US" sz="2000" b="1" dirty="0">
              <a:solidFill>
                <a:srgbClr val="525252"/>
              </a:solidFill>
            </a:endParaRPr>
          </a:p>
        </p:txBody>
      </p:sp>
      <p:sp>
        <p:nvSpPr>
          <p:cNvPr id="10" name="Rectangle: Rounded Corners 9">
            <a:extLst>
              <a:ext uri="{FF2B5EF4-FFF2-40B4-BE49-F238E27FC236}">
                <a16:creationId xmlns:a16="http://schemas.microsoft.com/office/drawing/2014/main" id="{B5120131-7BA4-79FC-3E5A-18B41846600F}"/>
              </a:ext>
            </a:extLst>
          </p:cNvPr>
          <p:cNvSpPr/>
          <p:nvPr/>
        </p:nvSpPr>
        <p:spPr>
          <a:xfrm>
            <a:off x="6254262" y="1059182"/>
            <a:ext cx="5081954" cy="5000886"/>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97F7B03F-0C93-F25D-2523-BA5AD6B039E8}"/>
              </a:ext>
            </a:extLst>
          </p:cNvPr>
          <p:cNvSpPr txBox="1">
            <a:spLocks/>
          </p:cNvSpPr>
          <p:nvPr/>
        </p:nvSpPr>
        <p:spPr>
          <a:xfrm>
            <a:off x="6858001" y="1283177"/>
            <a:ext cx="4114800" cy="47768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6">
                    <a:lumMod val="75000"/>
                  </a:schemeClr>
                </a:solidFill>
              </a:rPr>
              <a:t>Practical Applications</a:t>
            </a:r>
          </a:p>
          <a:p>
            <a:r>
              <a:rPr lang="en-US" sz="2000" dirty="0">
                <a:solidFill>
                  <a:srgbClr val="525252"/>
                </a:solidFill>
              </a:rPr>
              <a:t>Executive dashboards simplify interpretation of complex CMS quality data. </a:t>
            </a:r>
          </a:p>
          <a:p>
            <a:r>
              <a:rPr lang="en-US" sz="2000" dirty="0">
                <a:solidFill>
                  <a:srgbClr val="525252"/>
                </a:solidFill>
              </a:rPr>
              <a:t>Hospital type should be considered when comparing Overall Star Ratings. </a:t>
            </a:r>
          </a:p>
          <a:p>
            <a:r>
              <a:rPr lang="en-US" sz="2000" dirty="0">
                <a:solidFill>
                  <a:srgbClr val="525252"/>
                </a:solidFill>
              </a:rPr>
              <a:t>Statewide benchmarking can help identify performance patterns and inform quality improvement efforts. </a:t>
            </a:r>
          </a:p>
          <a:p>
            <a:r>
              <a:rPr lang="en-US" sz="2000" dirty="0">
                <a:solidFill>
                  <a:srgbClr val="525252"/>
                </a:solidFill>
              </a:rPr>
              <a:t>Executive dashboards enable faster, data-informed decision making.</a:t>
            </a:r>
          </a:p>
        </p:txBody>
      </p:sp>
      <p:sp>
        <p:nvSpPr>
          <p:cNvPr id="15" name="TextBox 14">
            <a:extLst>
              <a:ext uri="{FF2B5EF4-FFF2-40B4-BE49-F238E27FC236}">
                <a16:creationId xmlns:a16="http://schemas.microsoft.com/office/drawing/2014/main" id="{BDF28307-72FE-1BB9-144C-7CAE3E11411E}"/>
              </a:ext>
            </a:extLst>
          </p:cNvPr>
          <p:cNvSpPr txBox="1"/>
          <p:nvPr/>
        </p:nvSpPr>
        <p:spPr>
          <a:xfrm>
            <a:off x="911660" y="6206919"/>
            <a:ext cx="10368681" cy="292388"/>
          </a:xfrm>
          <a:prstGeom prst="rect">
            <a:avLst/>
          </a:prstGeom>
          <a:noFill/>
        </p:spPr>
        <p:txBody>
          <a:bodyPr wrap="square" rtlCol="0">
            <a:spAutoFit/>
          </a:bodyPr>
          <a:lstStyle/>
          <a:p>
            <a:pPr algn="ctr"/>
            <a:r>
              <a:rPr lang="en-US" sz="1300" b="1" dirty="0">
                <a:solidFill>
                  <a:schemeClr val="bg2">
                    <a:lumMod val="50000"/>
                  </a:schemeClr>
                </a:solidFill>
              </a:rPr>
              <a:t>Project Outcome:</a:t>
            </a:r>
            <a:r>
              <a:rPr lang="en-US" sz="1300" dirty="0">
                <a:solidFill>
                  <a:schemeClr val="bg2">
                    <a:lumMod val="50000"/>
                  </a:schemeClr>
                </a:solidFill>
              </a:rPr>
              <a:t> Developed an executive Excel dashboard that transforms complex public healthcare data into clear, actionable insights.</a:t>
            </a:r>
          </a:p>
        </p:txBody>
      </p:sp>
    </p:spTree>
    <p:extLst>
      <p:ext uri="{BB962C8B-B14F-4D97-AF65-F5344CB8AC3E}">
        <p14:creationId xmlns:p14="http://schemas.microsoft.com/office/powerpoint/2010/main" val="32614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E14DCC-0A23-99D9-3FF6-D8C19442863D}"/>
              </a:ext>
            </a:extLst>
          </p:cNvPr>
          <p:cNvSpPr/>
          <p:nvPr/>
        </p:nvSpPr>
        <p:spPr>
          <a:xfrm>
            <a:off x="107674" y="109331"/>
            <a:ext cx="11976652" cy="6639339"/>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3AEAD8F-CC2F-8D5D-CF7E-DA47DB8A5411}"/>
              </a:ext>
            </a:extLst>
          </p:cNvPr>
          <p:cNvSpPr txBox="1"/>
          <p:nvPr/>
        </p:nvSpPr>
        <p:spPr>
          <a:xfrm>
            <a:off x="1566020" y="6076294"/>
            <a:ext cx="9059960" cy="292388"/>
          </a:xfrm>
          <a:prstGeom prst="rect">
            <a:avLst/>
          </a:prstGeom>
          <a:noFill/>
        </p:spPr>
        <p:txBody>
          <a:bodyPr wrap="square" rtlCol="0">
            <a:spAutoFit/>
          </a:bodyPr>
          <a:lstStyle/>
          <a:p>
            <a:pPr algn="ctr"/>
            <a:r>
              <a:rPr lang="en-US" sz="1300" dirty="0">
                <a:solidFill>
                  <a:schemeClr val="bg2">
                    <a:lumMod val="50000"/>
                  </a:schemeClr>
                </a:solidFill>
              </a:rPr>
              <a:t>Portfolio Project 3 • Excel • Healthcare Analytics • July 2026</a:t>
            </a:r>
          </a:p>
        </p:txBody>
      </p:sp>
      <p:sp>
        <p:nvSpPr>
          <p:cNvPr id="11" name="Rectangle: Rounded Corners 10">
            <a:extLst>
              <a:ext uri="{FF2B5EF4-FFF2-40B4-BE49-F238E27FC236}">
                <a16:creationId xmlns:a16="http://schemas.microsoft.com/office/drawing/2014/main" id="{5D0363CB-11B1-96E5-F0FC-BC70F4FCDC32}"/>
              </a:ext>
            </a:extLst>
          </p:cNvPr>
          <p:cNvSpPr/>
          <p:nvPr/>
        </p:nvSpPr>
        <p:spPr>
          <a:xfrm>
            <a:off x="725311" y="1522324"/>
            <a:ext cx="4167326" cy="382157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DEEE8A0C-CC63-C1FB-C8ED-801B761BB2FC}"/>
              </a:ext>
            </a:extLst>
          </p:cNvPr>
          <p:cNvSpPr txBox="1">
            <a:spLocks/>
          </p:cNvSpPr>
          <p:nvPr/>
        </p:nvSpPr>
        <p:spPr>
          <a:xfrm>
            <a:off x="1205959" y="1746319"/>
            <a:ext cx="3496674" cy="338382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solidFill>
                  <a:schemeClr val="accent6">
                    <a:lumMod val="75000"/>
                  </a:schemeClr>
                </a:solidFill>
              </a:rPr>
              <a:t>Core Competencies </a:t>
            </a:r>
          </a:p>
          <a:p>
            <a:r>
              <a:rPr lang="en-US" sz="1900" dirty="0">
                <a:solidFill>
                  <a:srgbClr val="525252"/>
                </a:solidFill>
              </a:rPr>
              <a:t>Excel Dashboard Design </a:t>
            </a:r>
          </a:p>
          <a:p>
            <a:r>
              <a:rPr lang="en-US" sz="1900" dirty="0">
                <a:solidFill>
                  <a:srgbClr val="525252"/>
                </a:solidFill>
              </a:rPr>
              <a:t>PivotTables &amp; </a:t>
            </a:r>
            <a:r>
              <a:rPr lang="en-US" sz="1900" dirty="0" err="1">
                <a:solidFill>
                  <a:srgbClr val="525252"/>
                </a:solidFill>
              </a:rPr>
              <a:t>PivotCharts</a:t>
            </a:r>
            <a:r>
              <a:rPr lang="en-US" sz="1900" dirty="0">
                <a:solidFill>
                  <a:srgbClr val="525252"/>
                </a:solidFill>
              </a:rPr>
              <a:t> </a:t>
            </a:r>
          </a:p>
          <a:p>
            <a:r>
              <a:rPr lang="en-US" sz="1900" dirty="0">
                <a:solidFill>
                  <a:srgbClr val="525252"/>
                </a:solidFill>
              </a:rPr>
              <a:t>KPI Development </a:t>
            </a:r>
          </a:p>
          <a:p>
            <a:r>
              <a:rPr lang="en-US" sz="1900" dirty="0">
                <a:solidFill>
                  <a:srgbClr val="525252"/>
                </a:solidFill>
              </a:rPr>
              <a:t>Data Visualization </a:t>
            </a:r>
          </a:p>
          <a:p>
            <a:r>
              <a:rPr lang="en-US" sz="1900" dirty="0">
                <a:solidFill>
                  <a:srgbClr val="525252"/>
                </a:solidFill>
              </a:rPr>
              <a:t>Healthcare Data Analysis </a:t>
            </a:r>
          </a:p>
          <a:p>
            <a:r>
              <a:rPr lang="en-US" sz="1900" dirty="0">
                <a:solidFill>
                  <a:srgbClr val="525252"/>
                </a:solidFill>
              </a:rPr>
              <a:t>Data Storytelling </a:t>
            </a:r>
          </a:p>
          <a:p>
            <a:r>
              <a:rPr lang="en-US" sz="1900" dirty="0">
                <a:solidFill>
                  <a:srgbClr val="525252"/>
                </a:solidFill>
              </a:rPr>
              <a:t>Business Communication</a:t>
            </a:r>
            <a:endParaRPr lang="en-US" sz="1900" b="1" dirty="0">
              <a:solidFill>
                <a:srgbClr val="525252"/>
              </a:solidFill>
            </a:endParaRPr>
          </a:p>
        </p:txBody>
      </p:sp>
      <p:sp>
        <p:nvSpPr>
          <p:cNvPr id="15" name="Rectangle: Rounded Corners 14">
            <a:extLst>
              <a:ext uri="{FF2B5EF4-FFF2-40B4-BE49-F238E27FC236}">
                <a16:creationId xmlns:a16="http://schemas.microsoft.com/office/drawing/2014/main" id="{84F630DE-0CC0-5784-835B-08775D3F9CC1}"/>
              </a:ext>
            </a:extLst>
          </p:cNvPr>
          <p:cNvSpPr/>
          <p:nvPr/>
        </p:nvSpPr>
        <p:spPr>
          <a:xfrm>
            <a:off x="5183281" y="1522324"/>
            <a:ext cx="6200435" cy="3821572"/>
          </a:xfrm>
          <a:prstGeom prst="roundRect">
            <a:avLst/>
          </a:prstGeom>
          <a:solidFill>
            <a:srgbClr val="E2F2E6">
              <a:alpha val="4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A1E16ABC-57EF-BC1C-0E5F-7F6DBA5849EE}"/>
              </a:ext>
            </a:extLst>
          </p:cNvPr>
          <p:cNvSpPr txBox="1">
            <a:spLocks/>
          </p:cNvSpPr>
          <p:nvPr/>
        </p:nvSpPr>
        <p:spPr>
          <a:xfrm>
            <a:off x="5462774" y="1746320"/>
            <a:ext cx="5557527" cy="37638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6">
                    <a:lumMod val="75000"/>
                  </a:schemeClr>
                </a:solidFill>
              </a:rPr>
              <a:t>Project Reflection</a:t>
            </a:r>
          </a:p>
          <a:p>
            <a:pPr marL="0" indent="0">
              <a:buNone/>
            </a:pPr>
            <a:r>
              <a:rPr lang="en-US" sz="1900" dirty="0">
                <a:solidFill>
                  <a:srgbClr val="525252"/>
                </a:solidFill>
              </a:rPr>
              <a:t>This project strengthened my ability to transform complex public healthcare data into executive-ready dashboards that communicate meaningful business insights. Throughout the project, I balanced analytical accuracy with clear visual communication while ensuring that conclusions remained aligned with the data. The experience reinforced the importance of thoughtful data exploration, stakeholder-focused reporting, and effective data storytelling.</a:t>
            </a:r>
            <a:endParaRPr lang="en-US" sz="1900" b="1" dirty="0">
              <a:solidFill>
                <a:srgbClr val="525252"/>
              </a:solidFill>
            </a:endParaRPr>
          </a:p>
        </p:txBody>
      </p:sp>
      <p:sp>
        <p:nvSpPr>
          <p:cNvPr id="19" name="Content Placeholder 2">
            <a:extLst>
              <a:ext uri="{FF2B5EF4-FFF2-40B4-BE49-F238E27FC236}">
                <a16:creationId xmlns:a16="http://schemas.microsoft.com/office/drawing/2014/main" id="{381B7BA7-E876-8BA8-1E71-F0C1BCC068C0}"/>
              </a:ext>
            </a:extLst>
          </p:cNvPr>
          <p:cNvSpPr txBox="1">
            <a:spLocks/>
          </p:cNvSpPr>
          <p:nvPr/>
        </p:nvSpPr>
        <p:spPr>
          <a:xfrm>
            <a:off x="936250" y="420404"/>
            <a:ext cx="10597543" cy="5873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b="1" dirty="0">
                <a:solidFill>
                  <a:schemeClr val="accent6">
                    <a:lumMod val="50000"/>
                  </a:schemeClr>
                </a:solidFill>
              </a:rPr>
              <a:t> Project Takeaways</a:t>
            </a:r>
          </a:p>
        </p:txBody>
      </p:sp>
      <p:pic>
        <p:nvPicPr>
          <p:cNvPr id="21" name="Graphic 20" descr="Lightbulb and gear with solid fill">
            <a:extLst>
              <a:ext uri="{FF2B5EF4-FFF2-40B4-BE49-F238E27FC236}">
                <a16:creationId xmlns:a16="http://schemas.microsoft.com/office/drawing/2014/main" id="{98E5824C-B8CC-305E-9B4E-057F5D10C1D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79050" y="444154"/>
            <a:ext cx="457200" cy="457200"/>
          </a:xfrm>
          <a:prstGeom prst="rect">
            <a:avLst/>
          </a:prstGeom>
        </p:spPr>
      </p:pic>
    </p:spTree>
    <p:extLst>
      <p:ext uri="{BB962C8B-B14F-4D97-AF65-F5344CB8AC3E}">
        <p14:creationId xmlns:p14="http://schemas.microsoft.com/office/powerpoint/2010/main" val="812164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46da4d3-ba20-4986-879c-49e262eff745}" enabled="1" method="Standard" siteId="{9f693e63-5e9e-4ced-98a4-8ab28f9d0c2d}" contentBits="0" removed="0"/>
</clbl:labelList>
</file>

<file path=docProps/app.xml><?xml version="1.0" encoding="utf-8"?>
<Properties xmlns="http://schemas.openxmlformats.org/officeDocument/2006/extended-properties" xmlns:vt="http://schemas.openxmlformats.org/officeDocument/2006/docPropsVTypes">
  <TotalTime>165</TotalTime>
  <Words>1522</Words>
  <Application>Microsoft Office PowerPoint</Application>
  <PresentationFormat>Widescreen</PresentationFormat>
  <Paragraphs>117</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Washington Hospital Quality Explorer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Seattle Children's Hospital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Fordham, Jen</dc:creator>
  <cp:lastModifiedBy>Fordham, Jen</cp:lastModifiedBy>
  <cp:revision>14</cp:revision>
  <dcterms:created xsi:type="dcterms:W3CDTF">2026-07-26T16:13:02Z</dcterms:created>
  <dcterms:modified xsi:type="dcterms:W3CDTF">2026-07-26T18:58:17Z</dcterms:modified>
</cp:coreProperties>
</file>